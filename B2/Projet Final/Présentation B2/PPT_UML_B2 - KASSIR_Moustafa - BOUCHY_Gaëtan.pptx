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3B_8C53E815.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3E_9B12EC9F.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3F_761F35C6.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40_760B9D19.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42_D9D98B51.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5"/>
  </p:notesMasterIdLst>
  <p:sldIdLst>
    <p:sldId id="256" r:id="rId2"/>
    <p:sldId id="314" r:id="rId3"/>
    <p:sldId id="291" r:id="rId4"/>
    <p:sldId id="315" r:id="rId5"/>
    <p:sldId id="317" r:id="rId6"/>
    <p:sldId id="334" r:id="rId7"/>
    <p:sldId id="318" r:id="rId8"/>
    <p:sldId id="327" r:id="rId9"/>
    <p:sldId id="319" r:id="rId10"/>
    <p:sldId id="328" r:id="rId11"/>
    <p:sldId id="330" r:id="rId12"/>
    <p:sldId id="331" r:id="rId13"/>
    <p:sldId id="332" r:id="rId14"/>
    <p:sldId id="320" r:id="rId15"/>
    <p:sldId id="342" r:id="rId16"/>
    <p:sldId id="343" r:id="rId17"/>
    <p:sldId id="333" r:id="rId18"/>
    <p:sldId id="339" r:id="rId19"/>
    <p:sldId id="322" r:id="rId20"/>
    <p:sldId id="337" r:id="rId21"/>
    <p:sldId id="338" r:id="rId22"/>
    <p:sldId id="341" r:id="rId23"/>
    <p:sldId id="267" r:id="rId24"/>
  </p:sldIdLst>
  <p:sldSz cx="9144000" cy="5143500" type="screen16x9"/>
  <p:notesSz cx="6858000" cy="9144000"/>
  <p:embeddedFontLst>
    <p:embeddedFont>
      <p:font typeface="Montserrat ExtraBold" panose="00000900000000000000" pitchFamily="2" charset="0"/>
      <p:bold r:id="rId26"/>
      <p:boldItalic r:id="rId27"/>
    </p:embeddedFont>
    <p:embeddedFont>
      <p:font typeface="Oxygen" panose="02000503000000000000" pitchFamily="2"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D57689F-0DA3-AF89-768C-D7C7518EB042}" name="Gaëtan Bouchy" initials="GB" userId="acd08b9095d6965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D61489F-13D1-4E5F-8757-272B2C28602A}">
  <a:tblStyle styleId="{DD61489F-13D1-4E5F-8757-272B2C28602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64" autoAdjust="0"/>
  </p:normalViewPr>
  <p:slideViewPr>
    <p:cSldViewPr snapToGrid="0">
      <p:cViewPr varScale="1">
        <p:scale>
          <a:sx n="99" d="100"/>
          <a:sy n="99" d="100"/>
        </p:scale>
        <p:origin x="10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comments/modernComment_13B_8C53E815.xml><?xml version="1.0" encoding="utf-8"?>
<p188:cmLst xmlns:a="http://schemas.openxmlformats.org/drawingml/2006/main" xmlns:r="http://schemas.openxmlformats.org/officeDocument/2006/relationships" xmlns:p188="http://schemas.microsoft.com/office/powerpoint/2018/8/main">
  <p188:cm id="{DF30A90A-B3EE-43FB-B383-6CA9F017457E}" authorId="{BD57689F-0DA3-AF89-768C-D7C7518EB042}" created="2023-02-17T12:32:08.438">
    <pc:sldMkLst xmlns:pc="http://schemas.microsoft.com/office/powerpoint/2013/main/command">
      <pc:docMk/>
      <pc:sldMk cId="2354309141" sldId="315"/>
    </pc:sldMkLst>
    <p188:txBody>
      <a:bodyPr/>
      <a:lstStyle/>
      <a:p>
        <a:r>
          <a:rPr lang="fr-FR"/>
          <a:t>Le diagramme Use-Case montre :
- Les différents acteurs (utilisateurs ou systèmes externes) qui interagissent avec le système
- Les cas d'utilisation (fonctionnalités) qu'ils exécutent. Chaque cas d'utilisation décrit une tâche spécifique que l'utilisateur peut effectuer avec le système, ainsi que les étapes impliquées dans cette tâche.</a:t>
        </a:r>
      </a:p>
    </p188:txBody>
  </p188:cm>
</p188:cmLst>
</file>

<file path=ppt/comments/modernComment_13E_9B12EC9F.xml><?xml version="1.0" encoding="utf-8"?>
<p188:cmLst xmlns:a="http://schemas.openxmlformats.org/drawingml/2006/main" xmlns:r="http://schemas.openxmlformats.org/officeDocument/2006/relationships" xmlns:p188="http://schemas.microsoft.com/office/powerpoint/2018/8/main">
  <p188:cm id="{D9632DE5-1D71-427F-AF13-CF3F903DB1C6}" authorId="{BD57689F-0DA3-AF89-768C-D7C7518EB042}" created="2023-02-17T12:36:15.109">
    <pc:sldMkLst xmlns:pc="http://schemas.microsoft.com/office/powerpoint/2013/main/command">
      <pc:docMk/>
      <pc:sldMk cId="2601708703" sldId="318"/>
    </pc:sldMkLst>
    <p188:txBody>
      <a:bodyPr/>
      <a:lstStyle/>
      <a:p>
        <a:r>
          <a:rPr lang="fr-FR"/>
          <a:t>Le diagramme de composition est particulièrement utile pour les systèmes qui sont composés de plusieurs modules ou sous-systèmes interconnectés, car il permet de représenter la structure globale du système de manière détaillée et précise. Il peut également être utilisé pour modéliser des relations de dépendance et des hiérarchies complexes entre les différents éléments d'un système.
En résumé, le diagramme de composition est utilisé pour :
Décrire la composition interne d'un objet ou d'un système
Montrer comment les parties d'un objet sont liées entre elles pour produire un comportement cohérent
Modéliser des relations de dépendance et des hiérarchies entre les différents éléments d'un système
Fournir une représentation visuelle de la structure globale d'un système complexe.</a:t>
        </a:r>
      </a:p>
    </p188:txBody>
  </p188:cm>
</p188:cmLst>
</file>

<file path=ppt/comments/modernComment_13F_761F35C6.xml><?xml version="1.0" encoding="utf-8"?>
<p188:cmLst xmlns:a="http://schemas.openxmlformats.org/drawingml/2006/main" xmlns:r="http://schemas.openxmlformats.org/officeDocument/2006/relationships" xmlns:p188="http://schemas.microsoft.com/office/powerpoint/2018/8/main">
  <p188:cm id="{8A95CFA2-A075-4BCA-9F21-EF987D5DAC2E}" authorId="{BD57689F-0DA3-AF89-768C-D7C7518EB042}" created="2023-02-17T12:38:14.681">
    <pc:sldMkLst xmlns:pc="http://schemas.microsoft.com/office/powerpoint/2013/main/command">
      <pc:docMk/>
      <pc:sldMk cId="1981756870" sldId="319"/>
    </pc:sldMkLst>
    <p188:txBody>
      <a:bodyPr/>
      <a:lstStyle/>
      <a:p>
        <a:r>
          <a:rPr lang="fr-FR"/>
          <a:t>Les machines à états sont particulièrement utiles pour modéliser les systèmes réactifs ou temps réel, tels que les systèmes de contrôle de processus, les systèmes embarqués ou les systèmes de communication. Elles permettent de décrire le comportement dynamique d'un système, en montrant comment il réagit aux différents événements qui se produisent.
Les machines à états sont utilisées pour :
Décrire le comportement dynamique d'un objet dans un système informatique
Modéliser les systèmes réactifs ou temps réel
Montrer comment un objet passe d'un état à un autre en réponse aux événements qui se produisent
Identifier les événements qui peuvent déclencher des transitions entre les différents états
Fournir une vue d'ensemble du comportement d'un système, en montrant comment les différents états et transitions sont liés.
Les machines à états sont souvent utilisées en conjonction avec d'autres diagrammes de comportement, tels que les diagrammes d'activité et les diagrammes de séquence, pour fournir une vue complète du comportement d'un système.</a:t>
        </a:r>
      </a:p>
    </p188:txBody>
  </p188:cm>
</p188:cmLst>
</file>

<file path=ppt/comments/modernComment_140_760B9D19.xml><?xml version="1.0" encoding="utf-8"?>
<p188:cmLst xmlns:a="http://schemas.openxmlformats.org/drawingml/2006/main" xmlns:r="http://schemas.openxmlformats.org/officeDocument/2006/relationships" xmlns:p188="http://schemas.microsoft.com/office/powerpoint/2018/8/main">
  <p188:cm id="{9C0AAEC3-309D-469B-B576-3247B2374AFB}" authorId="{BD57689F-0DA3-AF89-768C-D7C7518EB042}" created="2023-02-17T12:41:23.707">
    <pc:sldMkLst xmlns:pc="http://schemas.microsoft.com/office/powerpoint/2013/main/command">
      <pc:docMk/>
      <pc:sldMk cId="1980472601" sldId="320"/>
    </pc:sldMkLst>
    <p188:txBody>
      <a:bodyPr/>
      <a:lstStyle/>
      <a:p>
        <a:r>
          <a:rPr lang="fr-FR"/>
          <a:t>Un stéréotype est une étiquette qui est ajoutée à un élément UML existant pour préciser un rôle ou une signification supplémentaire. Les contraintes, les propriétés et les méthodes ajoutent des détails supplémentaires à l'élément UML.
Les diagrammes de profils sont utilisés pour décrire les caractéristiques d'un profil UML et pour montrer comment les stéréotypes, les contraintes, les propriétés et les méthodes peuvent être appliqués aux éléments UML pour personnaliser leur comportement et leur signification dans le contexte d'un domaine d'application spécifique.
Les diagrammes de profils en UML sont utilisés pour :
Étendre le langage UML pour répondre aux besoins spécifiques d'un domaine d'application ou d'un projet particulier
Ajouter des stéréotypes, des contraintes, des propriétés ou des méthodes à un modèle UML de base pour décrire les caractéristiques spécifiques d'un domaine d'application
Fournir une vue d'ensemble des caractéristiques d'un profil UML et de la façon dont elles peuvent être utilisées pour personnaliser la notation et la sémantique d'UML
Permettre aux utilisateurs de créer des modèles UML personnalisés pour leur domaine d'application spécifique, tout en restant compatibles avec UML de base.</a:t>
        </a:r>
      </a:p>
    </p188:txBody>
  </p188:cm>
</p188:cmLst>
</file>

<file path=ppt/comments/modernComment_142_D9D98B51.xml><?xml version="1.0" encoding="utf-8"?>
<p188:cmLst xmlns:a="http://schemas.openxmlformats.org/drawingml/2006/main" xmlns:r="http://schemas.openxmlformats.org/officeDocument/2006/relationships" xmlns:p188="http://schemas.microsoft.com/office/powerpoint/2018/8/main">
  <p188:cm id="{24A6A19B-3261-4662-8FF8-09C2FD339024}" authorId="{BD57689F-0DA3-AF89-768C-D7C7518EB042}" created="2023-02-20T01:42:08.777">
    <pc:sldMkLst xmlns:pc="http://schemas.microsoft.com/office/powerpoint/2013/main/command">
      <pc:docMk/>
      <pc:sldMk cId="3654912849" sldId="322"/>
    </pc:sldMkLst>
    <p188:txBody>
      <a:bodyPr/>
      <a:lstStyle/>
      <a:p>
        <a:r>
          <a:rPr lang="fr-FR"/>
          <a:t>Le diagramme d'activité permet de représenter visuellement l'ensemble des actions qui doivent être effectuées dans un processus, ainsi que les décisions et les synchronisations qui doivent être prises. Cela facilite la compréhension et la communication des exigences du système entre les différents membres de l'équipe de développement, les utilisateurs et les parties prenantes.
Les avantages de l'utilisation des diagrammes d'activité incluent :
Une représentation visuelle claire et concise des étapes et des actions d'un processus.
La capacité à modéliser des processus complexes en utilisant des symboles standardisés et bien compris.
La facilité de communication entre les membres de l'équipe de développement, les utilisateurs et les parties prenantes.
L'amélioration de la qualité du logiciel en détectant les erreurs de conception, les conflits ou les incohérences entre les exigences.
Les diagrammes d'activité sont utilisés dans de nombreuses phases du cycle de vie d'un projet logiciel, depuis l'analyse des exigences jusqu'à la conception détaillée et la documentation. Ils sont également utilisés pour modéliser des processus métier non liés aux logiciels, tels que les processus d'entreprise et les workflows.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6762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7035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4588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795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3579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72166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5160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8167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141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09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2926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99401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6408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47020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8060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0663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99904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102029ff216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g102029ff216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2632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102029ff216_0_3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2" name="Google Shape;602;g102029ff216_0_3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rot="-546">
            <a:off x="2683645" y="3516288"/>
            <a:ext cx="3776700" cy="426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solidFill>
                  <a:schemeClr val="lt1"/>
                </a:solidFill>
                <a:latin typeface="Oxygen"/>
                <a:ea typeface="Oxygen"/>
                <a:cs typeface="Oxygen"/>
                <a:sym typeface="Oxygen"/>
              </a:defRPr>
            </a:lvl1pPr>
            <a:lvl2pPr lvl="1" algn="ctr">
              <a:lnSpc>
                <a:spcPct val="100000"/>
              </a:lnSpc>
              <a:spcBef>
                <a:spcPts val="0"/>
              </a:spcBef>
              <a:spcAft>
                <a:spcPts val="0"/>
              </a:spcAft>
              <a:buSzPts val="1800"/>
              <a:buNone/>
              <a:defRPr sz="1801"/>
            </a:lvl2pPr>
            <a:lvl3pPr lvl="2" algn="ctr">
              <a:lnSpc>
                <a:spcPct val="100000"/>
              </a:lnSpc>
              <a:spcBef>
                <a:spcPts val="0"/>
              </a:spcBef>
              <a:spcAft>
                <a:spcPts val="0"/>
              </a:spcAft>
              <a:buSzPts val="1800"/>
              <a:buNone/>
              <a:defRPr sz="1801"/>
            </a:lvl3pPr>
            <a:lvl4pPr lvl="3" algn="ctr">
              <a:lnSpc>
                <a:spcPct val="100000"/>
              </a:lnSpc>
              <a:spcBef>
                <a:spcPts val="0"/>
              </a:spcBef>
              <a:spcAft>
                <a:spcPts val="0"/>
              </a:spcAft>
              <a:buSzPts val="1800"/>
              <a:buNone/>
              <a:defRPr sz="1801"/>
            </a:lvl4pPr>
            <a:lvl5pPr lvl="4" algn="ctr">
              <a:lnSpc>
                <a:spcPct val="100000"/>
              </a:lnSpc>
              <a:spcBef>
                <a:spcPts val="0"/>
              </a:spcBef>
              <a:spcAft>
                <a:spcPts val="0"/>
              </a:spcAft>
              <a:buSzPts val="1800"/>
              <a:buNone/>
              <a:defRPr sz="1801"/>
            </a:lvl5pPr>
            <a:lvl6pPr lvl="5" algn="ctr">
              <a:lnSpc>
                <a:spcPct val="100000"/>
              </a:lnSpc>
              <a:spcBef>
                <a:spcPts val="0"/>
              </a:spcBef>
              <a:spcAft>
                <a:spcPts val="0"/>
              </a:spcAft>
              <a:buSzPts val="1800"/>
              <a:buNone/>
              <a:defRPr sz="1801"/>
            </a:lvl6pPr>
            <a:lvl7pPr lvl="6" algn="ctr">
              <a:lnSpc>
                <a:spcPct val="100000"/>
              </a:lnSpc>
              <a:spcBef>
                <a:spcPts val="0"/>
              </a:spcBef>
              <a:spcAft>
                <a:spcPts val="0"/>
              </a:spcAft>
              <a:buSzPts val="1800"/>
              <a:buNone/>
              <a:defRPr sz="1801"/>
            </a:lvl7pPr>
            <a:lvl8pPr lvl="7" algn="ctr">
              <a:lnSpc>
                <a:spcPct val="100000"/>
              </a:lnSpc>
              <a:spcBef>
                <a:spcPts val="0"/>
              </a:spcBef>
              <a:spcAft>
                <a:spcPts val="0"/>
              </a:spcAft>
              <a:buSzPts val="1800"/>
              <a:buNone/>
              <a:defRPr sz="1801"/>
            </a:lvl8pPr>
            <a:lvl9pPr lvl="8" algn="ctr">
              <a:lnSpc>
                <a:spcPct val="100000"/>
              </a:lnSpc>
              <a:spcBef>
                <a:spcPts val="0"/>
              </a:spcBef>
              <a:spcAft>
                <a:spcPts val="0"/>
              </a:spcAft>
              <a:buSzPts val="1800"/>
              <a:buNone/>
              <a:defRPr sz="1801"/>
            </a:lvl9pPr>
          </a:lstStyle>
          <a:p>
            <a:endParaRPr/>
          </a:p>
        </p:txBody>
      </p:sp>
      <p:sp>
        <p:nvSpPr>
          <p:cNvPr id="10" name="Google Shape;10;p2"/>
          <p:cNvSpPr txBox="1">
            <a:spLocks noGrp="1"/>
          </p:cNvSpPr>
          <p:nvPr>
            <p:ph type="ctrTitle"/>
          </p:nvPr>
        </p:nvSpPr>
        <p:spPr>
          <a:xfrm>
            <a:off x="1271190" y="1074650"/>
            <a:ext cx="6609900" cy="2310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191919"/>
              </a:buClr>
              <a:buSzPts val="5200"/>
              <a:buNone/>
              <a:defRPr sz="4000">
                <a:solidFill>
                  <a:schemeClr val="lt1"/>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p:nvPr/>
        </p:nvSpPr>
        <p:spPr>
          <a:xfrm rot="5400000">
            <a:off x="-855395" y="274475"/>
            <a:ext cx="1705200" cy="1705202"/>
          </a:xfrm>
          <a:prstGeom prst="blockArc">
            <a:avLst>
              <a:gd name="adj1" fmla="val 10800000"/>
              <a:gd name="adj2" fmla="val 0"/>
              <a:gd name="adj3" fmla="val 25000"/>
            </a:avLst>
          </a:prstGeom>
          <a:gradFill>
            <a:gsLst>
              <a:gs pos="0">
                <a:schemeClr val="accent1"/>
              </a:gs>
              <a:gs pos="100000">
                <a:schemeClr val="accent4"/>
              </a:gs>
            </a:gsLst>
            <a:lin ang="2700006"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
        <p:nvSpPr>
          <p:cNvPr id="12" name="Google Shape;12;p2"/>
          <p:cNvSpPr/>
          <p:nvPr/>
        </p:nvSpPr>
        <p:spPr>
          <a:xfrm rot="-1724259">
            <a:off x="315786" y="1683183"/>
            <a:ext cx="452996" cy="452995"/>
          </a:xfrm>
          <a:prstGeom prst="ellipse">
            <a:avLst/>
          </a:prstGeom>
          <a:gradFill>
            <a:gsLst>
              <a:gs pos="0">
                <a:schemeClr val="accent5"/>
              </a:gs>
              <a:gs pos="100000">
                <a:schemeClr val="accent2"/>
              </a:gs>
            </a:gsLst>
            <a:lin ang="5400012"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
        <p:nvSpPr>
          <p:cNvPr id="13" name="Google Shape;13;p2"/>
          <p:cNvSpPr/>
          <p:nvPr/>
        </p:nvSpPr>
        <p:spPr>
          <a:xfrm rot="-1722653">
            <a:off x="2362956" y="4875554"/>
            <a:ext cx="437145" cy="437145"/>
          </a:xfrm>
          <a:prstGeom prst="ellipse">
            <a:avLst/>
          </a:prstGeom>
          <a:gradFill>
            <a:gsLst>
              <a:gs pos="0">
                <a:schemeClr val="accent1"/>
              </a:gs>
              <a:gs pos="100000">
                <a:schemeClr val="accent4"/>
              </a:gs>
            </a:gsLst>
            <a:lin ang="2700006"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
        <p:nvSpPr>
          <p:cNvPr id="14" name="Google Shape;14;p2"/>
          <p:cNvSpPr/>
          <p:nvPr/>
        </p:nvSpPr>
        <p:spPr>
          <a:xfrm rot="-1723737">
            <a:off x="8486705" y="3388820"/>
            <a:ext cx="1030444" cy="1030444"/>
          </a:xfrm>
          <a:prstGeom prst="ellipse">
            <a:avLst/>
          </a:prstGeom>
          <a:gradFill>
            <a:gsLst>
              <a:gs pos="0">
                <a:schemeClr val="accent5"/>
              </a:gs>
              <a:gs pos="100000">
                <a:schemeClr val="accent2"/>
              </a:gs>
            </a:gsLst>
            <a:lin ang="5400012"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blipFill>
          <a:blip r:embed="rId2">
            <a:alphaModFix/>
          </a:blip>
          <a:stretch>
            <a:fillRect/>
          </a:stretch>
        </a:blipFill>
        <a:effectLst/>
      </p:bgPr>
    </p:bg>
    <p:spTree>
      <p:nvGrpSpPr>
        <p:cNvPr id="1" name="Shape 319"/>
        <p:cNvGrpSpPr/>
        <p:nvPr/>
      </p:nvGrpSpPr>
      <p:grpSpPr>
        <a:xfrm>
          <a:off x="0" y="0"/>
          <a:ext cx="0" cy="0"/>
          <a:chOff x="0" y="0"/>
          <a:chExt cx="0" cy="0"/>
        </a:xfrm>
      </p:grpSpPr>
      <p:pic>
        <p:nvPicPr>
          <p:cNvPr id="320" name="Google Shape;320;p33"/>
          <p:cNvPicPr preferRelativeResize="0"/>
          <p:nvPr/>
        </p:nvPicPr>
        <p:blipFill>
          <a:blip r:embed="rId3">
            <a:alphaModFix amt="50000"/>
          </a:blip>
          <a:stretch>
            <a:fillRect/>
          </a:stretch>
        </p:blipFill>
        <p:spPr>
          <a:xfrm rot="-1212016">
            <a:off x="-431397" y="-809742"/>
            <a:ext cx="5835593" cy="2362199"/>
          </a:xfrm>
          <a:prstGeom prst="rect">
            <a:avLst/>
          </a:prstGeom>
          <a:noFill/>
          <a:ln>
            <a:noFill/>
          </a:ln>
        </p:spPr>
      </p:pic>
      <p:sp>
        <p:nvSpPr>
          <p:cNvPr id="321" name="Google Shape;321;p33"/>
          <p:cNvSpPr/>
          <p:nvPr/>
        </p:nvSpPr>
        <p:spPr>
          <a:xfrm>
            <a:off x="2735077" y="412501"/>
            <a:ext cx="255001" cy="255000"/>
          </a:xfrm>
          <a:prstGeom prst="ellipse">
            <a:avLst/>
          </a:prstGeom>
          <a:gradFill>
            <a:gsLst>
              <a:gs pos="0">
                <a:schemeClr val="accent1"/>
              </a:gs>
              <a:gs pos="100000">
                <a:schemeClr val="accent4"/>
              </a:gs>
            </a:gsLst>
            <a:lin ang="2698631"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
        <p:nvSpPr>
          <p:cNvPr id="322" name="Google Shape;322;p33"/>
          <p:cNvSpPr/>
          <p:nvPr/>
        </p:nvSpPr>
        <p:spPr>
          <a:xfrm>
            <a:off x="6152326" y="4186400"/>
            <a:ext cx="1943100" cy="1943100"/>
          </a:xfrm>
          <a:prstGeom prst="blockArc">
            <a:avLst>
              <a:gd name="adj1" fmla="val 10800000"/>
              <a:gd name="adj2" fmla="val 0"/>
              <a:gd name="adj3" fmla="val 25000"/>
            </a:avLst>
          </a:prstGeom>
          <a:gradFill>
            <a:gsLst>
              <a:gs pos="0">
                <a:schemeClr val="accent1"/>
              </a:gs>
              <a:gs pos="100000">
                <a:schemeClr val="accent4"/>
              </a:gs>
            </a:gsLst>
            <a:lin ang="2698631"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
        <p:nvSpPr>
          <p:cNvPr id="323" name="Google Shape;323;p33"/>
          <p:cNvSpPr/>
          <p:nvPr/>
        </p:nvSpPr>
        <p:spPr>
          <a:xfrm>
            <a:off x="7590675" y="4186475"/>
            <a:ext cx="504900" cy="504600"/>
          </a:xfrm>
          <a:prstGeom prst="ellipse">
            <a:avLst/>
          </a:prstGeom>
          <a:gradFill>
            <a:gsLst>
              <a:gs pos="0">
                <a:schemeClr val="accent5"/>
              </a:gs>
              <a:gs pos="100000">
                <a:schemeClr val="accent2"/>
              </a:gs>
            </a:gsLst>
            <a:lin ang="5400700"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
        <p:nvSpPr>
          <p:cNvPr id="324" name="Google Shape;324;p33"/>
          <p:cNvSpPr/>
          <p:nvPr/>
        </p:nvSpPr>
        <p:spPr>
          <a:xfrm>
            <a:off x="-133950" y="1029132"/>
            <a:ext cx="276000" cy="275700"/>
          </a:xfrm>
          <a:prstGeom prst="ellipse">
            <a:avLst/>
          </a:prstGeom>
          <a:gradFill>
            <a:gsLst>
              <a:gs pos="0">
                <a:schemeClr val="accent5"/>
              </a:gs>
              <a:gs pos="100000">
                <a:schemeClr val="accent2"/>
              </a:gs>
            </a:gsLst>
            <a:lin ang="5400700"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
        <p:nvSpPr>
          <p:cNvPr id="325" name="Google Shape;325;p33"/>
          <p:cNvSpPr/>
          <p:nvPr/>
        </p:nvSpPr>
        <p:spPr>
          <a:xfrm rot="10800000">
            <a:off x="4381427" y="-709525"/>
            <a:ext cx="1419300" cy="1419300"/>
          </a:xfrm>
          <a:prstGeom prst="blockArc">
            <a:avLst>
              <a:gd name="adj1" fmla="val 10800000"/>
              <a:gd name="adj2" fmla="val 0"/>
              <a:gd name="adj3" fmla="val 25000"/>
            </a:avLst>
          </a:prstGeom>
          <a:gradFill>
            <a:gsLst>
              <a:gs pos="0">
                <a:schemeClr val="accent1"/>
              </a:gs>
              <a:gs pos="100000">
                <a:schemeClr val="accent4"/>
              </a:gs>
            </a:gsLst>
            <a:lin ang="2698631"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
        <p:nvSpPr>
          <p:cNvPr id="326" name="Google Shape;326;p33"/>
          <p:cNvSpPr/>
          <p:nvPr/>
        </p:nvSpPr>
        <p:spPr>
          <a:xfrm>
            <a:off x="6009676" y="5020107"/>
            <a:ext cx="276000" cy="275700"/>
          </a:xfrm>
          <a:prstGeom prst="ellipse">
            <a:avLst/>
          </a:prstGeom>
          <a:gradFill>
            <a:gsLst>
              <a:gs pos="0">
                <a:schemeClr val="accent5"/>
              </a:gs>
              <a:gs pos="100000">
                <a:schemeClr val="accent2"/>
              </a:gs>
            </a:gsLst>
            <a:lin ang="5400700"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327"/>
        <p:cNvGrpSpPr/>
        <p:nvPr/>
      </p:nvGrpSpPr>
      <p:grpSpPr>
        <a:xfrm>
          <a:off x="0" y="0"/>
          <a:ext cx="0" cy="0"/>
          <a:chOff x="0" y="0"/>
          <a:chExt cx="0" cy="0"/>
        </a:xfrm>
      </p:grpSpPr>
      <p:pic>
        <p:nvPicPr>
          <p:cNvPr id="328" name="Google Shape;328;p34"/>
          <p:cNvPicPr preferRelativeResize="0"/>
          <p:nvPr/>
        </p:nvPicPr>
        <p:blipFill>
          <a:blip r:embed="rId3">
            <a:alphaModFix amt="49000"/>
          </a:blip>
          <a:stretch>
            <a:fillRect/>
          </a:stretch>
        </p:blipFill>
        <p:spPr>
          <a:xfrm rot="6786017" flipH="1">
            <a:off x="-2215630" y="1004878"/>
            <a:ext cx="6747132" cy="3280279"/>
          </a:xfrm>
          <a:prstGeom prst="rect">
            <a:avLst/>
          </a:prstGeom>
          <a:noFill/>
          <a:ln>
            <a:noFill/>
          </a:ln>
        </p:spPr>
      </p:pic>
      <p:grpSp>
        <p:nvGrpSpPr>
          <p:cNvPr id="329" name="Google Shape;329;p34"/>
          <p:cNvGrpSpPr/>
          <p:nvPr/>
        </p:nvGrpSpPr>
        <p:grpSpPr>
          <a:xfrm rot="5400000" flipH="1">
            <a:off x="-591033" y="652628"/>
            <a:ext cx="1482300" cy="1765374"/>
            <a:chOff x="307037" y="4131480"/>
            <a:chExt cx="1482300" cy="1765375"/>
          </a:xfrm>
        </p:grpSpPr>
        <p:sp>
          <p:nvSpPr>
            <p:cNvPr id="330" name="Google Shape;330;p34"/>
            <p:cNvSpPr/>
            <p:nvPr/>
          </p:nvSpPr>
          <p:spPr>
            <a:xfrm>
              <a:off x="307037" y="4414555"/>
              <a:ext cx="1482300" cy="1482300"/>
            </a:xfrm>
            <a:prstGeom prst="blockArc">
              <a:avLst>
                <a:gd name="adj1" fmla="val 10800000"/>
                <a:gd name="adj2" fmla="val 0"/>
                <a:gd name="adj3" fmla="val 25000"/>
              </a:avLst>
            </a:prstGeom>
            <a:gradFill>
              <a:gsLst>
                <a:gs pos="0">
                  <a:schemeClr val="accent5"/>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1"/>
            </a:p>
          </p:txBody>
        </p:sp>
        <p:sp>
          <p:nvSpPr>
            <p:cNvPr id="331" name="Google Shape;331;p34"/>
            <p:cNvSpPr/>
            <p:nvPr/>
          </p:nvSpPr>
          <p:spPr>
            <a:xfrm rot="3675020">
              <a:off x="522899" y="4201984"/>
              <a:ext cx="394192" cy="394192"/>
            </a:xfrm>
            <a:prstGeom prst="ellipse">
              <a:avLst/>
            </a:prstGeom>
            <a:gradFill>
              <a:gsLst>
                <a:gs pos="0">
                  <a:schemeClr val="accent1"/>
                </a:gs>
                <a:gs pos="100000">
                  <a:schemeClr val="accent4"/>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1"/>
            </a:p>
          </p:txBody>
        </p:sp>
      </p:grpSp>
      <p:sp>
        <p:nvSpPr>
          <p:cNvPr id="332" name="Google Shape;332;p34"/>
          <p:cNvSpPr/>
          <p:nvPr/>
        </p:nvSpPr>
        <p:spPr>
          <a:xfrm rot="3678880">
            <a:off x="8399967" y="1025937"/>
            <a:ext cx="348126" cy="348126"/>
          </a:xfrm>
          <a:prstGeom prst="ellipse">
            <a:avLst/>
          </a:prstGeom>
          <a:gradFill>
            <a:gsLst>
              <a:gs pos="0">
                <a:schemeClr val="accent1"/>
              </a:gs>
              <a:gs pos="100000">
                <a:schemeClr val="accent4"/>
              </a:gs>
            </a:gsLst>
            <a:lin ang="2698631"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
        <p:nvSpPr>
          <p:cNvPr id="333" name="Google Shape;333;p34"/>
          <p:cNvSpPr/>
          <p:nvPr/>
        </p:nvSpPr>
        <p:spPr>
          <a:xfrm rot="3678203">
            <a:off x="8589003" y="1448472"/>
            <a:ext cx="923419" cy="923419"/>
          </a:xfrm>
          <a:prstGeom prst="ellipse">
            <a:avLst/>
          </a:prstGeom>
          <a:gradFill>
            <a:gsLst>
              <a:gs pos="0">
                <a:schemeClr val="accent5"/>
              </a:gs>
              <a:gs pos="100000">
                <a:schemeClr val="accent2"/>
              </a:gs>
            </a:gsLst>
            <a:lin ang="5400012"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sp>
        <p:nvSpPr>
          <p:cNvPr id="334" name="Google Shape;334;p34"/>
          <p:cNvSpPr/>
          <p:nvPr/>
        </p:nvSpPr>
        <p:spPr>
          <a:xfrm rot="3677995">
            <a:off x="8664221" y="2217692"/>
            <a:ext cx="183664" cy="183666"/>
          </a:xfrm>
          <a:prstGeom prst="ellipse">
            <a:avLst/>
          </a:prstGeom>
          <a:gradFill>
            <a:gsLst>
              <a:gs pos="0">
                <a:schemeClr val="accent1"/>
              </a:gs>
              <a:gs pos="100000">
                <a:schemeClr val="accent4"/>
              </a:gs>
            </a:gsLst>
            <a:lin ang="2698631" scaled="0"/>
          </a:gradFill>
          <a:ln>
            <a:noFill/>
          </a:ln>
        </p:spPr>
        <p:txBody>
          <a:bodyPr spcFirstLastPara="1" wrap="square" lIns="91426" tIns="91426" rIns="91426" bIns="91426" anchor="ctr" anchorCtr="0">
            <a:noAutofit/>
          </a:bodyPr>
          <a:lstStyle/>
          <a:p>
            <a:pPr marL="0" lvl="0" indent="0" algn="l" rtl="0">
              <a:spcBef>
                <a:spcPts val="0"/>
              </a:spcBef>
              <a:spcAft>
                <a:spcPts val="0"/>
              </a:spcAft>
              <a:buNone/>
            </a:pPr>
            <a:endParaRPr sz="1401"/>
          </a:p>
        </p:txBody>
      </p:sp>
      <p:grpSp>
        <p:nvGrpSpPr>
          <p:cNvPr id="335" name="Google Shape;335;p34"/>
          <p:cNvGrpSpPr/>
          <p:nvPr/>
        </p:nvGrpSpPr>
        <p:grpSpPr>
          <a:xfrm>
            <a:off x="7471966" y="4126184"/>
            <a:ext cx="1482300" cy="1765375"/>
            <a:chOff x="307037" y="4131480"/>
            <a:chExt cx="1482300" cy="1765375"/>
          </a:xfrm>
        </p:grpSpPr>
        <p:sp>
          <p:nvSpPr>
            <p:cNvPr id="336" name="Google Shape;336;p34"/>
            <p:cNvSpPr/>
            <p:nvPr/>
          </p:nvSpPr>
          <p:spPr>
            <a:xfrm>
              <a:off x="307037" y="4414555"/>
              <a:ext cx="1482300" cy="1482300"/>
            </a:xfrm>
            <a:prstGeom prst="blockArc">
              <a:avLst>
                <a:gd name="adj1" fmla="val 10800000"/>
                <a:gd name="adj2" fmla="val 0"/>
                <a:gd name="adj3" fmla="val 25000"/>
              </a:avLst>
            </a:prstGeom>
            <a:gradFill>
              <a:gsLst>
                <a:gs pos="0">
                  <a:schemeClr val="accent5"/>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1"/>
            </a:p>
          </p:txBody>
        </p:sp>
        <p:sp>
          <p:nvSpPr>
            <p:cNvPr id="337" name="Google Shape;337;p34"/>
            <p:cNvSpPr/>
            <p:nvPr/>
          </p:nvSpPr>
          <p:spPr>
            <a:xfrm rot="3675020">
              <a:off x="522899" y="4201984"/>
              <a:ext cx="394192" cy="394192"/>
            </a:xfrm>
            <a:prstGeom prst="ellipse">
              <a:avLst/>
            </a:prstGeom>
            <a:gradFill>
              <a:gsLst>
                <a:gs pos="0">
                  <a:schemeClr val="accent1"/>
                </a:gs>
                <a:gs pos="100000">
                  <a:schemeClr val="accent4"/>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1"/>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gradFill>
          <a:gsLst>
            <a:gs pos="0">
              <a:schemeClr val="accent2"/>
            </a:gs>
            <a:gs pos="100000">
              <a:schemeClr val="accent4"/>
            </a:gs>
          </a:gsLst>
          <a:lin ang="2698631" scaled="0"/>
        </a:gradFill>
        <a:effectLst/>
      </p:bgPr>
    </p:bg>
    <p:spTree>
      <p:nvGrpSpPr>
        <p:cNvPr id="1" name="Shape 213"/>
        <p:cNvGrpSpPr/>
        <p:nvPr/>
      </p:nvGrpSpPr>
      <p:grpSpPr>
        <a:xfrm>
          <a:off x="0" y="0"/>
          <a:ext cx="0" cy="0"/>
          <a:chOff x="0" y="0"/>
          <a:chExt cx="0" cy="0"/>
        </a:xfrm>
      </p:grpSpPr>
      <p:sp>
        <p:nvSpPr>
          <p:cNvPr id="214" name="Google Shape;214;p26"/>
          <p:cNvSpPr txBox="1">
            <a:spLocks noGrp="1"/>
          </p:cNvSpPr>
          <p:nvPr>
            <p:ph type="title"/>
          </p:nvPr>
        </p:nvSpPr>
        <p:spPr>
          <a:xfrm>
            <a:off x="720002" y="584500"/>
            <a:ext cx="7704000" cy="3291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15" name="Google Shape;215;p26"/>
          <p:cNvSpPr txBox="1">
            <a:spLocks noGrp="1"/>
          </p:cNvSpPr>
          <p:nvPr>
            <p:ph type="title" idx="2"/>
          </p:nvPr>
        </p:nvSpPr>
        <p:spPr>
          <a:xfrm>
            <a:off x="506854" y="2759325"/>
            <a:ext cx="27627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16" name="Google Shape;216;p26"/>
          <p:cNvSpPr txBox="1">
            <a:spLocks noGrp="1"/>
          </p:cNvSpPr>
          <p:nvPr>
            <p:ph type="subTitle" idx="1"/>
          </p:nvPr>
        </p:nvSpPr>
        <p:spPr>
          <a:xfrm>
            <a:off x="720004" y="3132018"/>
            <a:ext cx="2336400" cy="95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1"/>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17" name="Google Shape;217;p26"/>
          <p:cNvSpPr txBox="1">
            <a:spLocks noGrp="1"/>
          </p:cNvSpPr>
          <p:nvPr>
            <p:ph type="title" idx="3"/>
          </p:nvPr>
        </p:nvSpPr>
        <p:spPr>
          <a:xfrm>
            <a:off x="3190657" y="2759314"/>
            <a:ext cx="27627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18" name="Google Shape;218;p26"/>
          <p:cNvSpPr txBox="1">
            <a:spLocks noGrp="1"/>
          </p:cNvSpPr>
          <p:nvPr>
            <p:ph type="subTitle" idx="4"/>
          </p:nvPr>
        </p:nvSpPr>
        <p:spPr>
          <a:xfrm>
            <a:off x="3403807" y="3132007"/>
            <a:ext cx="2336400" cy="95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1"/>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19" name="Google Shape;219;p26"/>
          <p:cNvSpPr txBox="1">
            <a:spLocks noGrp="1"/>
          </p:cNvSpPr>
          <p:nvPr>
            <p:ph type="title" idx="5"/>
          </p:nvPr>
        </p:nvSpPr>
        <p:spPr>
          <a:xfrm>
            <a:off x="5874454" y="2759314"/>
            <a:ext cx="2762700" cy="5277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220" name="Google Shape;220;p26"/>
          <p:cNvSpPr txBox="1">
            <a:spLocks noGrp="1"/>
          </p:cNvSpPr>
          <p:nvPr>
            <p:ph type="subTitle" idx="6"/>
          </p:nvPr>
        </p:nvSpPr>
        <p:spPr>
          <a:xfrm>
            <a:off x="6087604" y="3131993"/>
            <a:ext cx="2336400" cy="95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1"/>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pic>
        <p:nvPicPr>
          <p:cNvPr id="221" name="Google Shape;221;p26"/>
          <p:cNvPicPr preferRelativeResize="0"/>
          <p:nvPr/>
        </p:nvPicPr>
        <p:blipFill>
          <a:blip r:embed="rId2">
            <a:alphaModFix/>
          </a:blip>
          <a:stretch>
            <a:fillRect/>
          </a:stretch>
        </p:blipFill>
        <p:spPr>
          <a:xfrm rot="10102378">
            <a:off x="-2208039" y="-1447801"/>
            <a:ext cx="8662987" cy="5143500"/>
          </a:xfrm>
          <a:prstGeom prst="rect">
            <a:avLst/>
          </a:prstGeom>
          <a:noFill/>
          <a:ln>
            <a:noFill/>
          </a:ln>
        </p:spPr>
      </p:pic>
      <p:grpSp>
        <p:nvGrpSpPr>
          <p:cNvPr id="222" name="Google Shape;222;p26"/>
          <p:cNvGrpSpPr/>
          <p:nvPr/>
        </p:nvGrpSpPr>
        <p:grpSpPr>
          <a:xfrm rot="10800000" flipH="1">
            <a:off x="302708" y="-754843"/>
            <a:ext cx="1482300" cy="1765375"/>
            <a:chOff x="307037" y="4131480"/>
            <a:chExt cx="1482300" cy="1765375"/>
          </a:xfrm>
        </p:grpSpPr>
        <p:sp>
          <p:nvSpPr>
            <p:cNvPr id="223" name="Google Shape;223;p26"/>
            <p:cNvSpPr/>
            <p:nvPr/>
          </p:nvSpPr>
          <p:spPr>
            <a:xfrm>
              <a:off x="307037" y="4414555"/>
              <a:ext cx="1482300" cy="1482300"/>
            </a:xfrm>
            <a:prstGeom prst="blockArc">
              <a:avLst>
                <a:gd name="adj1" fmla="val 10800000"/>
                <a:gd name="adj2" fmla="val 0"/>
                <a:gd name="adj3" fmla="val 25000"/>
              </a:avLst>
            </a:prstGeom>
            <a:gradFill>
              <a:gsLst>
                <a:gs pos="0">
                  <a:schemeClr val="accent1"/>
                </a:gs>
                <a:gs pos="100000">
                  <a:schemeClr val="accent4"/>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1"/>
            </a:p>
          </p:txBody>
        </p:sp>
        <p:sp>
          <p:nvSpPr>
            <p:cNvPr id="224" name="Google Shape;224;p26"/>
            <p:cNvSpPr/>
            <p:nvPr/>
          </p:nvSpPr>
          <p:spPr>
            <a:xfrm rot="3675020">
              <a:off x="522899" y="4201984"/>
              <a:ext cx="394192" cy="394192"/>
            </a:xfrm>
            <a:prstGeom prst="ellipse">
              <a:avLst/>
            </a:prstGeom>
            <a:gradFill>
              <a:gsLst>
                <a:gs pos="0">
                  <a:schemeClr val="accent5"/>
                </a:gs>
                <a:gs pos="100000">
                  <a:schemeClr val="accen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1"/>
            </a:p>
          </p:txBody>
        </p:sp>
      </p:grpSp>
      <p:pic>
        <p:nvPicPr>
          <p:cNvPr id="225" name="Google Shape;225;p26"/>
          <p:cNvPicPr preferRelativeResize="0"/>
          <p:nvPr/>
        </p:nvPicPr>
        <p:blipFill>
          <a:blip r:embed="rId2">
            <a:alphaModFix/>
          </a:blip>
          <a:stretch>
            <a:fillRect/>
          </a:stretch>
        </p:blipFill>
        <p:spPr>
          <a:xfrm>
            <a:off x="1888211" y="1920950"/>
            <a:ext cx="8662987" cy="5143500"/>
          </a:xfrm>
          <a:prstGeom prst="rect">
            <a:avLst/>
          </a:prstGeom>
          <a:noFill/>
          <a:ln>
            <a:noFill/>
          </a:ln>
        </p:spPr>
      </p:pic>
    </p:spTree>
    <p:extLst>
      <p:ext uri="{BB962C8B-B14F-4D97-AF65-F5344CB8AC3E}">
        <p14:creationId xmlns:p14="http://schemas.microsoft.com/office/powerpoint/2010/main" val="3804835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1296225" y="1385975"/>
            <a:ext cx="6551700" cy="23715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72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71" name="Google Shape;71;p11"/>
          <p:cNvSpPr/>
          <p:nvPr/>
        </p:nvSpPr>
        <p:spPr>
          <a:xfrm rot="5400000" flipH="1">
            <a:off x="-739502" y="522530"/>
            <a:ext cx="1459500" cy="1459500"/>
          </a:xfrm>
          <a:prstGeom prst="blockArc">
            <a:avLst>
              <a:gd name="adj1" fmla="val 10800000"/>
              <a:gd name="adj2" fmla="val 0"/>
              <a:gd name="adj3" fmla="val 25000"/>
            </a:avLst>
          </a:prstGeom>
          <a:gradFill>
            <a:gsLst>
              <a:gs pos="0">
                <a:schemeClr val="accent1"/>
              </a:gs>
              <a:gs pos="100000">
                <a:schemeClr val="accent4"/>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 name="Google Shape;72;p11"/>
          <p:cNvPicPr preferRelativeResize="0"/>
          <p:nvPr/>
        </p:nvPicPr>
        <p:blipFill>
          <a:blip r:embed="rId3">
            <a:alphaModFix amt="50000"/>
          </a:blip>
          <a:stretch>
            <a:fillRect/>
          </a:stretch>
        </p:blipFill>
        <p:spPr>
          <a:xfrm rot="-301824" flipH="1">
            <a:off x="3057193" y="3158658"/>
            <a:ext cx="6368501" cy="3096200"/>
          </a:xfrm>
          <a:prstGeom prst="rect">
            <a:avLst/>
          </a:prstGeom>
          <a:noFill/>
          <a:ln>
            <a:noFill/>
          </a:ln>
        </p:spPr>
      </p:pic>
      <p:sp>
        <p:nvSpPr>
          <p:cNvPr id="73" name="Google Shape;73;p11"/>
          <p:cNvSpPr/>
          <p:nvPr/>
        </p:nvSpPr>
        <p:spPr>
          <a:xfrm rot="7123067" flipH="1">
            <a:off x="279705" y="1739546"/>
            <a:ext cx="242874" cy="242874"/>
          </a:xfrm>
          <a:prstGeom prst="ellipse">
            <a:avLst/>
          </a:prstGeom>
          <a:gradFill>
            <a:gsLst>
              <a:gs pos="0">
                <a:schemeClr val="accent5"/>
              </a:gs>
              <a:gs pos="100000">
                <a:schemeClr val="accen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1"/>
          <p:cNvSpPr/>
          <p:nvPr/>
        </p:nvSpPr>
        <p:spPr>
          <a:xfrm rot="7127197" flipH="1">
            <a:off x="8828092" y="2834262"/>
            <a:ext cx="186897" cy="186897"/>
          </a:xfrm>
          <a:prstGeom prst="ellipse">
            <a:avLst/>
          </a:prstGeom>
          <a:gradFill>
            <a:gsLst>
              <a:gs pos="0">
                <a:schemeClr val="accent5"/>
              </a:gs>
              <a:gs pos="100000">
                <a:schemeClr val="accen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1"/>
          <p:cNvSpPr/>
          <p:nvPr/>
        </p:nvSpPr>
        <p:spPr>
          <a:xfrm rot="7122820" flipH="1">
            <a:off x="5593877" y="4846713"/>
            <a:ext cx="186082" cy="186082"/>
          </a:xfrm>
          <a:prstGeom prst="ellipse">
            <a:avLst/>
          </a:prstGeom>
          <a:gradFill>
            <a:gsLst>
              <a:gs pos="0">
                <a:schemeClr val="accent5"/>
              </a:gs>
              <a:gs pos="100000">
                <a:schemeClr val="accen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7125777" flipH="1">
            <a:off x="394816" y="508041"/>
            <a:ext cx="566724" cy="566724"/>
          </a:xfrm>
          <a:prstGeom prst="ellipse">
            <a:avLst/>
          </a:prstGeom>
          <a:gradFill>
            <a:gsLst>
              <a:gs pos="0">
                <a:schemeClr val="accent5"/>
              </a:gs>
              <a:gs pos="100000">
                <a:schemeClr val="accen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80336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2" y="584500"/>
            <a:ext cx="7704000" cy="3291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lgn="ctr" rt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2pPr>
            <a:lvl3pPr lvl="2" algn="ctr" rt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3pPr>
            <a:lvl4pPr lvl="3" algn="ctr" rt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4pPr>
            <a:lvl5pPr lvl="4" algn="ctr" rt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5pPr>
            <a:lvl6pPr lvl="5" algn="ctr" rt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6pPr>
            <a:lvl7pPr lvl="6" algn="ctr" rt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7pPr>
            <a:lvl8pPr lvl="7" algn="ctr" rt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8pPr>
            <a:lvl9pPr lvl="8" algn="ctr" rt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720002" y="1237085"/>
            <a:ext cx="7704000" cy="33663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Oxygen"/>
              <a:buChar char="●"/>
              <a:defRPr>
                <a:solidFill>
                  <a:schemeClr val="lt1"/>
                </a:solidFill>
                <a:latin typeface="Oxygen"/>
                <a:ea typeface="Oxygen"/>
                <a:cs typeface="Oxygen"/>
                <a:sym typeface="Oxygen"/>
              </a:defRPr>
            </a:lvl1pPr>
            <a:lvl2pPr marL="914400" lvl="1" indent="-317500">
              <a:lnSpc>
                <a:spcPct val="100000"/>
              </a:lnSpc>
              <a:spcBef>
                <a:spcPts val="1600"/>
              </a:spcBef>
              <a:spcAft>
                <a:spcPts val="0"/>
              </a:spcAft>
              <a:buClr>
                <a:schemeClr val="lt1"/>
              </a:buClr>
              <a:buSzPts val="1400"/>
              <a:buFont typeface="Oxygen"/>
              <a:buChar char="○"/>
              <a:defRPr>
                <a:solidFill>
                  <a:schemeClr val="lt1"/>
                </a:solidFill>
                <a:latin typeface="Oxygen"/>
                <a:ea typeface="Oxygen"/>
                <a:cs typeface="Oxygen"/>
                <a:sym typeface="Oxygen"/>
              </a:defRPr>
            </a:lvl2pPr>
            <a:lvl3pPr marL="1371600" lvl="2" indent="-317500">
              <a:lnSpc>
                <a:spcPct val="100000"/>
              </a:lnSpc>
              <a:spcBef>
                <a:spcPts val="1600"/>
              </a:spcBef>
              <a:spcAft>
                <a:spcPts val="0"/>
              </a:spcAft>
              <a:buClr>
                <a:schemeClr val="lt1"/>
              </a:buClr>
              <a:buSzPts val="1400"/>
              <a:buFont typeface="Oxygen"/>
              <a:buChar char="■"/>
              <a:defRPr>
                <a:solidFill>
                  <a:schemeClr val="lt1"/>
                </a:solidFill>
                <a:latin typeface="Oxygen"/>
                <a:ea typeface="Oxygen"/>
                <a:cs typeface="Oxygen"/>
                <a:sym typeface="Oxygen"/>
              </a:defRPr>
            </a:lvl3pPr>
            <a:lvl4pPr marL="1828800" lvl="3" indent="-317500">
              <a:lnSpc>
                <a:spcPct val="100000"/>
              </a:lnSpc>
              <a:spcBef>
                <a:spcPts val="1600"/>
              </a:spcBef>
              <a:spcAft>
                <a:spcPts val="0"/>
              </a:spcAft>
              <a:buClr>
                <a:schemeClr val="lt1"/>
              </a:buClr>
              <a:buSzPts val="1400"/>
              <a:buFont typeface="Oxygen"/>
              <a:buChar char="●"/>
              <a:defRPr>
                <a:solidFill>
                  <a:schemeClr val="lt1"/>
                </a:solidFill>
                <a:latin typeface="Oxygen"/>
                <a:ea typeface="Oxygen"/>
                <a:cs typeface="Oxygen"/>
                <a:sym typeface="Oxygen"/>
              </a:defRPr>
            </a:lvl4pPr>
            <a:lvl5pPr marL="2286000" lvl="4" indent="-317500">
              <a:lnSpc>
                <a:spcPct val="100000"/>
              </a:lnSpc>
              <a:spcBef>
                <a:spcPts val="1600"/>
              </a:spcBef>
              <a:spcAft>
                <a:spcPts val="0"/>
              </a:spcAft>
              <a:buClr>
                <a:schemeClr val="lt1"/>
              </a:buClr>
              <a:buSzPts val="1400"/>
              <a:buFont typeface="Oxygen"/>
              <a:buChar char="○"/>
              <a:defRPr>
                <a:solidFill>
                  <a:schemeClr val="lt1"/>
                </a:solidFill>
                <a:latin typeface="Oxygen"/>
                <a:ea typeface="Oxygen"/>
                <a:cs typeface="Oxygen"/>
                <a:sym typeface="Oxygen"/>
              </a:defRPr>
            </a:lvl5pPr>
            <a:lvl6pPr marL="2743200" lvl="5" indent="-317500">
              <a:lnSpc>
                <a:spcPct val="100000"/>
              </a:lnSpc>
              <a:spcBef>
                <a:spcPts val="1600"/>
              </a:spcBef>
              <a:spcAft>
                <a:spcPts val="0"/>
              </a:spcAft>
              <a:buClr>
                <a:schemeClr val="lt1"/>
              </a:buClr>
              <a:buSzPts val="1400"/>
              <a:buFont typeface="Oxygen"/>
              <a:buChar char="■"/>
              <a:defRPr>
                <a:solidFill>
                  <a:schemeClr val="lt1"/>
                </a:solidFill>
                <a:latin typeface="Oxygen"/>
                <a:ea typeface="Oxygen"/>
                <a:cs typeface="Oxygen"/>
                <a:sym typeface="Oxygen"/>
              </a:defRPr>
            </a:lvl6pPr>
            <a:lvl7pPr marL="3200400" lvl="6" indent="-317500">
              <a:lnSpc>
                <a:spcPct val="100000"/>
              </a:lnSpc>
              <a:spcBef>
                <a:spcPts val="1600"/>
              </a:spcBef>
              <a:spcAft>
                <a:spcPts val="0"/>
              </a:spcAft>
              <a:buClr>
                <a:schemeClr val="lt1"/>
              </a:buClr>
              <a:buSzPts val="1400"/>
              <a:buFont typeface="Oxygen"/>
              <a:buChar char="●"/>
              <a:defRPr>
                <a:solidFill>
                  <a:schemeClr val="lt1"/>
                </a:solidFill>
                <a:latin typeface="Oxygen"/>
                <a:ea typeface="Oxygen"/>
                <a:cs typeface="Oxygen"/>
                <a:sym typeface="Oxygen"/>
              </a:defRPr>
            </a:lvl7pPr>
            <a:lvl8pPr marL="3657600" lvl="7" indent="-317500">
              <a:lnSpc>
                <a:spcPct val="100000"/>
              </a:lnSpc>
              <a:spcBef>
                <a:spcPts val="1600"/>
              </a:spcBef>
              <a:spcAft>
                <a:spcPts val="0"/>
              </a:spcAft>
              <a:buClr>
                <a:schemeClr val="lt1"/>
              </a:buClr>
              <a:buSzPts val="1400"/>
              <a:buFont typeface="Oxygen"/>
              <a:buChar char="○"/>
              <a:defRPr>
                <a:solidFill>
                  <a:schemeClr val="lt1"/>
                </a:solidFill>
                <a:latin typeface="Oxygen"/>
                <a:ea typeface="Oxygen"/>
                <a:cs typeface="Oxygen"/>
                <a:sym typeface="Oxygen"/>
              </a:defRPr>
            </a:lvl8pPr>
            <a:lvl9pPr marL="4114800" lvl="8" indent="-317500">
              <a:lnSpc>
                <a:spcPct val="100000"/>
              </a:lnSpc>
              <a:spcBef>
                <a:spcPts val="1600"/>
              </a:spcBef>
              <a:spcAft>
                <a:spcPts val="1600"/>
              </a:spcAft>
              <a:buClr>
                <a:schemeClr val="lt1"/>
              </a:buClr>
              <a:buSzPts val="1400"/>
              <a:buFont typeface="Oxygen"/>
              <a:buChar char="■"/>
              <a:defRPr>
                <a:solidFill>
                  <a:schemeClr val="lt1"/>
                </a:solidFill>
                <a:latin typeface="Oxygen"/>
                <a:ea typeface="Oxygen"/>
                <a:cs typeface="Oxygen"/>
                <a:sym typeface="Oxyge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79" r:id="rId2"/>
    <p:sldLayoutId id="2147483680" r:id="rId3"/>
    <p:sldLayoutId id="2147483684" r:id="rId4"/>
    <p:sldLayoutId id="2147483685"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1"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userDrawn="1">
          <p15:clr>
            <a:srgbClr val="EA4335"/>
          </p15:clr>
        </p15:guide>
        <p15:guide id="2" pos="453" userDrawn="1">
          <p15:clr>
            <a:srgbClr val="EA4335"/>
          </p15:clr>
        </p15:guide>
        <p15:guide id="3" orient="horz" pos="2900" userDrawn="1">
          <p15:clr>
            <a:srgbClr val="EA4335"/>
          </p15:clr>
        </p15:guide>
        <p15:guide id="4" pos="5307" userDrawn="1">
          <p15:clr>
            <a:srgbClr val="EA4335"/>
          </p15:clr>
        </p15:guide>
        <p15:guide id="5" orient="horz" pos="1620" userDrawn="1">
          <p15:clr>
            <a:srgbClr val="EA4335"/>
          </p15:clr>
        </p15:guide>
        <p15:guide id="6" pos="2882" userDrawn="1">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3B_8C53E815.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3E_9B12EC9F.xm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3F_761F35C6.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40_760B9D19.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42_D9D98B51.xml"/><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8"/>
          <p:cNvSpPr txBox="1">
            <a:spLocks noGrp="1"/>
          </p:cNvSpPr>
          <p:nvPr>
            <p:ph type="subTitle" idx="1"/>
          </p:nvPr>
        </p:nvSpPr>
        <p:spPr>
          <a:xfrm rot="-546">
            <a:off x="2068236" y="3516289"/>
            <a:ext cx="5007570" cy="426300"/>
          </a:xfrm>
          <a:prstGeom prst="rect">
            <a:avLst/>
          </a:prstGeom>
        </p:spPr>
        <p:txBody>
          <a:bodyPr spcFirstLastPara="1" wrap="square" lIns="91426" tIns="91426" rIns="91426" bIns="91426" anchor="t" anchorCtr="0">
            <a:noAutofit/>
          </a:bodyPr>
          <a:lstStyle/>
          <a:p>
            <a:pPr marL="0" indent="0"/>
            <a:r>
              <a:rPr lang="en" sz="1600" dirty="0"/>
              <a:t>Par Moustafa KASSIR et Gaëtan BOUCHY</a:t>
            </a:r>
            <a:endParaRPr sz="1600" dirty="0"/>
          </a:p>
        </p:txBody>
      </p:sp>
      <p:sp>
        <p:nvSpPr>
          <p:cNvPr id="349" name="Google Shape;349;p38"/>
          <p:cNvSpPr txBox="1">
            <a:spLocks noGrp="1"/>
          </p:cNvSpPr>
          <p:nvPr>
            <p:ph type="ctrTitle"/>
          </p:nvPr>
        </p:nvSpPr>
        <p:spPr>
          <a:xfrm>
            <a:off x="1271190" y="1424073"/>
            <a:ext cx="6609900" cy="1961483"/>
          </a:xfrm>
          <a:prstGeom prst="rect">
            <a:avLst/>
          </a:prstGeom>
        </p:spPr>
        <p:txBody>
          <a:bodyPr spcFirstLastPara="1" wrap="square" lIns="91426" tIns="91426" rIns="91426" bIns="91426" anchor="ctr" anchorCtr="0">
            <a:noAutofit/>
          </a:bodyPr>
          <a:lstStyle/>
          <a:p>
            <a:pPr>
              <a:buClr>
                <a:schemeClr val="dk1"/>
              </a:buClr>
              <a:buSzPts val="1100"/>
            </a:pPr>
            <a:r>
              <a:rPr lang="fr-FR" sz="4800" dirty="0">
                <a:solidFill>
                  <a:schemeClr val="accent5"/>
                </a:solidFill>
              </a:rPr>
              <a:t>Drone system</a:t>
            </a:r>
            <a:r>
              <a:rPr lang="en-US" sz="4800" dirty="0">
                <a:solidFill>
                  <a:schemeClr val="accent5"/>
                </a:solidFill>
              </a:rPr>
              <a:t> </a:t>
            </a:r>
            <a:r>
              <a:rPr lang="en-US" sz="4800" dirty="0"/>
              <a:t>: navigation system</a:t>
            </a:r>
            <a:endParaRPr lang="fr-FR" sz="4800" dirty="0"/>
          </a:p>
        </p:txBody>
      </p:sp>
      <p:cxnSp>
        <p:nvCxnSpPr>
          <p:cNvPr id="350" name="Google Shape;350;p38"/>
          <p:cNvCxnSpPr/>
          <p:nvPr/>
        </p:nvCxnSpPr>
        <p:spPr>
          <a:xfrm>
            <a:off x="2068205" y="3385551"/>
            <a:ext cx="5007600" cy="0"/>
          </a:xfrm>
          <a:prstGeom prst="straightConnector1">
            <a:avLst/>
          </a:prstGeom>
          <a:noFill/>
          <a:ln w="19050" cap="flat" cmpd="sng">
            <a:solidFill>
              <a:schemeClr val="accent5"/>
            </a:solidFill>
            <a:prstDash val="solid"/>
            <a:round/>
            <a:headEnd type="oval" w="med" len="med"/>
            <a:tailEnd type="oval" w="med" len="med"/>
          </a:ln>
        </p:spPr>
      </p:cxnSp>
      <p:sp>
        <p:nvSpPr>
          <p:cNvPr id="351" name="Google Shape;351;p38"/>
          <p:cNvSpPr/>
          <p:nvPr/>
        </p:nvSpPr>
        <p:spPr>
          <a:xfrm rot="-1724014">
            <a:off x="6598441" y="-101544"/>
            <a:ext cx="234016" cy="234016"/>
          </a:xfrm>
          <a:prstGeom prst="ellipse">
            <a:avLst/>
          </a:prstGeom>
          <a:gradFill>
            <a:gsLst>
              <a:gs pos="0">
                <a:schemeClr val="accent5"/>
              </a:gs>
              <a:gs pos="100000">
                <a:schemeClr val="accent2"/>
              </a:gs>
            </a:gsLst>
            <a:lin ang="5400012" scaled="0"/>
          </a:gradFill>
          <a:ln>
            <a:noFill/>
          </a:ln>
        </p:spPr>
        <p:txBody>
          <a:bodyPr spcFirstLastPara="1" wrap="square" lIns="91426" tIns="91426" rIns="91426" bIns="91426" anchor="ctr" anchorCtr="0">
            <a:noAutofit/>
          </a:bodyPr>
          <a:lstStyle/>
          <a:p>
            <a:endParaRPr sz="140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70232E-DAE6-ED22-04E0-A396F225B943}"/>
              </a:ext>
            </a:extLst>
          </p:cNvPr>
          <p:cNvSpPr>
            <a:spLocks noGrp="1"/>
          </p:cNvSpPr>
          <p:nvPr>
            <p:ph type="title"/>
          </p:nvPr>
        </p:nvSpPr>
        <p:spPr>
          <a:xfrm>
            <a:off x="509126" y="444460"/>
            <a:ext cx="7704002" cy="329100"/>
          </a:xfrm>
        </p:spPr>
        <p:txBody>
          <a:bodyPr/>
          <a:lstStyle/>
          <a:p>
            <a:r>
              <a:rPr lang="fr-FR" dirty="0">
                <a:solidFill>
                  <a:schemeClr val="bg1"/>
                </a:solidFill>
              </a:rPr>
              <a:t>Sommaire</a:t>
            </a:r>
          </a:p>
        </p:txBody>
      </p:sp>
      <p:sp>
        <p:nvSpPr>
          <p:cNvPr id="4" name="Titre 3">
            <a:extLst>
              <a:ext uri="{FF2B5EF4-FFF2-40B4-BE49-F238E27FC236}">
                <a16:creationId xmlns:a16="http://schemas.microsoft.com/office/drawing/2014/main" id="{519DF362-368B-FBCF-0108-0AE6E81006D9}"/>
              </a:ext>
            </a:extLst>
          </p:cNvPr>
          <p:cNvSpPr>
            <a:spLocks noGrp="1"/>
          </p:cNvSpPr>
          <p:nvPr>
            <p:ph type="title" idx="2"/>
          </p:nvPr>
        </p:nvSpPr>
        <p:spPr>
          <a:xfrm>
            <a:off x="1933781" y="1051449"/>
            <a:ext cx="4930446" cy="3746674"/>
          </a:xfrm>
        </p:spPr>
        <p:txBody>
          <a:bodyPr/>
          <a:lstStyle/>
          <a:p>
            <a:pPr algn="l">
              <a:lnSpc>
                <a:spcPct val="150000"/>
              </a:lnSpc>
            </a:pPr>
            <a:r>
              <a:rPr lang="fr-FR" sz="2400" dirty="0">
                <a:solidFill>
                  <a:schemeClr val="accent5">
                    <a:lumMod val="20000"/>
                    <a:lumOff val="80000"/>
                  </a:schemeClr>
                </a:solidFill>
              </a:rPr>
              <a:t>- Introduction</a:t>
            </a:r>
            <a:br>
              <a:rPr lang="fr-FR" sz="2400" dirty="0">
                <a:solidFill>
                  <a:schemeClr val="accent5">
                    <a:lumMod val="20000"/>
                    <a:lumOff val="80000"/>
                  </a:schemeClr>
                </a:solidFill>
              </a:rPr>
            </a:br>
            <a:r>
              <a:rPr lang="fr-FR" sz="2400" dirty="0">
                <a:solidFill>
                  <a:schemeClr val="accent5">
                    <a:lumMod val="20000"/>
                    <a:lumOff val="80000"/>
                  </a:schemeClr>
                </a:solidFill>
              </a:rPr>
              <a:t>- Diagramme Use-Case</a:t>
            </a:r>
            <a:br>
              <a:rPr lang="fr-FR" sz="2400" dirty="0">
                <a:solidFill>
                  <a:schemeClr val="accent5">
                    <a:lumMod val="20000"/>
                    <a:lumOff val="80000"/>
                  </a:schemeClr>
                </a:solidFill>
              </a:rPr>
            </a:br>
            <a:r>
              <a:rPr lang="fr-FR" sz="2400" dirty="0">
                <a:solidFill>
                  <a:schemeClr val="accent5">
                    <a:lumMod val="20000"/>
                    <a:lumOff val="80000"/>
                  </a:schemeClr>
                </a:solidFill>
              </a:rPr>
              <a:t>- Diagramme de composition</a:t>
            </a:r>
            <a:br>
              <a:rPr lang="en-US" sz="2400" dirty="0">
                <a:solidFill>
                  <a:schemeClr val="accent5">
                    <a:lumMod val="20000"/>
                    <a:lumOff val="80000"/>
                  </a:schemeClr>
                </a:solidFill>
              </a:rPr>
            </a:br>
            <a:r>
              <a:rPr lang="en-US" sz="2400" dirty="0">
                <a:solidFill>
                  <a:schemeClr val="accent5">
                    <a:lumMod val="20000"/>
                    <a:lumOff val="80000"/>
                  </a:schemeClr>
                </a:solidFill>
              </a:rPr>
              <a:t>- Machine à </a:t>
            </a:r>
            <a:r>
              <a:rPr lang="en-US" sz="2400" dirty="0" err="1">
                <a:solidFill>
                  <a:schemeClr val="accent5">
                    <a:lumMod val="20000"/>
                    <a:lumOff val="80000"/>
                  </a:schemeClr>
                </a:solidFill>
              </a:rPr>
              <a:t>états</a:t>
            </a:r>
            <a:br>
              <a:rPr lang="en-US" sz="2400" dirty="0">
                <a:solidFill>
                  <a:schemeClr val="accent5">
                    <a:lumMod val="20000"/>
                    <a:lumOff val="80000"/>
                  </a:schemeClr>
                </a:solidFill>
              </a:rPr>
            </a:br>
            <a:r>
              <a:rPr lang="en-US" sz="2400" dirty="0">
                <a:solidFill>
                  <a:schemeClr val="accent5">
                    <a:lumMod val="20000"/>
                    <a:lumOff val="80000"/>
                  </a:schemeClr>
                </a:solidFill>
              </a:rPr>
              <a:t>- </a:t>
            </a:r>
            <a:r>
              <a:rPr lang="en-US" sz="2400" dirty="0" err="1">
                <a:solidFill>
                  <a:schemeClr val="accent5">
                    <a:lumMod val="20000"/>
                    <a:lumOff val="80000"/>
                  </a:schemeClr>
                </a:solidFill>
              </a:rPr>
              <a:t>Diagramme</a:t>
            </a:r>
            <a:r>
              <a:rPr lang="en-US" sz="2400" dirty="0">
                <a:solidFill>
                  <a:schemeClr val="accent5">
                    <a:lumMod val="20000"/>
                    <a:lumOff val="80000"/>
                  </a:schemeClr>
                </a:solidFill>
              </a:rPr>
              <a:t> de </a:t>
            </a:r>
            <a:r>
              <a:rPr lang="en-US" sz="2400" dirty="0" err="1">
                <a:solidFill>
                  <a:schemeClr val="accent5">
                    <a:lumMod val="20000"/>
                    <a:lumOff val="80000"/>
                  </a:schemeClr>
                </a:solidFill>
              </a:rPr>
              <a:t>profils</a:t>
            </a:r>
            <a:br>
              <a:rPr lang="en-US" sz="2400" dirty="0">
                <a:solidFill>
                  <a:schemeClr val="accent5">
                    <a:lumMod val="20000"/>
                    <a:lumOff val="80000"/>
                  </a:schemeClr>
                </a:solidFill>
              </a:rPr>
            </a:br>
            <a:r>
              <a:rPr lang="en-US" sz="2400" dirty="0">
                <a:solidFill>
                  <a:schemeClr val="accent5">
                    <a:lumMod val="20000"/>
                    <a:lumOff val="80000"/>
                  </a:schemeClr>
                </a:solidFill>
              </a:rPr>
              <a:t>- </a:t>
            </a:r>
            <a:r>
              <a:rPr lang="en" sz="2400" dirty="0">
                <a:solidFill>
                  <a:schemeClr val="accent5">
                    <a:lumMod val="20000"/>
                    <a:lumOff val="80000"/>
                  </a:schemeClr>
                </a:solidFill>
              </a:rPr>
              <a:t>Diagramme d’activité</a:t>
            </a:r>
            <a:br>
              <a:rPr lang="en" sz="2400" dirty="0">
                <a:solidFill>
                  <a:schemeClr val="accent5">
                    <a:lumMod val="20000"/>
                    <a:lumOff val="80000"/>
                  </a:schemeClr>
                </a:solidFill>
              </a:rPr>
            </a:br>
            <a:r>
              <a:rPr lang="en" sz="2400" dirty="0">
                <a:solidFill>
                  <a:schemeClr val="accent5">
                    <a:lumMod val="20000"/>
                    <a:lumOff val="80000"/>
                  </a:schemeClr>
                </a:solidFill>
              </a:rPr>
              <a:t>- Conclusion</a:t>
            </a:r>
            <a:endParaRPr lang="fr-FR" sz="2400" dirty="0">
              <a:solidFill>
                <a:schemeClr val="accent5">
                  <a:lumMod val="20000"/>
                  <a:lumOff val="80000"/>
                </a:schemeClr>
              </a:solidFill>
            </a:endParaRPr>
          </a:p>
        </p:txBody>
      </p:sp>
      <p:cxnSp>
        <p:nvCxnSpPr>
          <p:cNvPr id="11" name="Google Shape;467;p46">
            <a:extLst>
              <a:ext uri="{FF2B5EF4-FFF2-40B4-BE49-F238E27FC236}">
                <a16:creationId xmlns:a16="http://schemas.microsoft.com/office/drawing/2014/main" id="{280A22AD-F2F1-8EED-9310-50ED4DB8A239}"/>
              </a:ext>
            </a:extLst>
          </p:cNvPr>
          <p:cNvCxnSpPr/>
          <p:nvPr/>
        </p:nvCxnSpPr>
        <p:spPr>
          <a:xfrm>
            <a:off x="2516062" y="848986"/>
            <a:ext cx="3765900" cy="0"/>
          </a:xfrm>
          <a:prstGeom prst="straightConnector1">
            <a:avLst/>
          </a:prstGeom>
          <a:noFill/>
          <a:ln w="19050" cap="flat" cmpd="sng">
            <a:solidFill>
              <a:schemeClr val="accent5"/>
            </a:solidFill>
            <a:prstDash val="solid"/>
            <a:round/>
            <a:headEnd type="oval" w="med" len="med"/>
            <a:tailEnd type="oval" w="med" len="med"/>
          </a:ln>
        </p:spPr>
      </p:cxnSp>
    </p:spTree>
    <p:extLst>
      <p:ext uri="{BB962C8B-B14F-4D97-AF65-F5344CB8AC3E}">
        <p14:creationId xmlns:p14="http://schemas.microsoft.com/office/powerpoint/2010/main" val="2959371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Introduction</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5" name="Image 4">
            <a:extLst>
              <a:ext uri="{FF2B5EF4-FFF2-40B4-BE49-F238E27FC236}">
                <a16:creationId xmlns:a16="http://schemas.microsoft.com/office/drawing/2014/main" id="{069E57FE-565F-E7F8-5DA4-6CC813A90BD7}"/>
              </a:ext>
            </a:extLst>
          </p:cNvPr>
          <p:cNvPicPr>
            <a:picLocks noChangeAspect="1"/>
          </p:cNvPicPr>
          <p:nvPr/>
        </p:nvPicPr>
        <p:blipFill>
          <a:blip r:embed="rId3"/>
          <a:stretch>
            <a:fillRect/>
          </a:stretch>
        </p:blipFill>
        <p:spPr>
          <a:xfrm>
            <a:off x="588254" y="1779701"/>
            <a:ext cx="1260000" cy="1260000"/>
          </a:xfrm>
          <a:prstGeom prst="rect">
            <a:avLst/>
          </a:prstGeom>
        </p:spPr>
      </p:pic>
      <p:pic>
        <p:nvPicPr>
          <p:cNvPr id="11" name="Image 10">
            <a:extLst>
              <a:ext uri="{FF2B5EF4-FFF2-40B4-BE49-F238E27FC236}">
                <a16:creationId xmlns:a16="http://schemas.microsoft.com/office/drawing/2014/main" id="{C603E07F-B808-AB14-89FB-7BB6891325BB}"/>
              </a:ext>
            </a:extLst>
          </p:cNvPr>
          <p:cNvPicPr>
            <a:picLocks noChangeAspect="1"/>
          </p:cNvPicPr>
          <p:nvPr/>
        </p:nvPicPr>
        <p:blipFill>
          <a:blip r:embed="rId4"/>
          <a:stretch>
            <a:fillRect/>
          </a:stretch>
        </p:blipFill>
        <p:spPr>
          <a:xfrm>
            <a:off x="2712299" y="1764951"/>
            <a:ext cx="1260000" cy="1260000"/>
          </a:xfrm>
          <a:prstGeom prst="rect">
            <a:avLst/>
          </a:prstGeom>
        </p:spPr>
      </p:pic>
      <p:pic>
        <p:nvPicPr>
          <p:cNvPr id="14" name="Image 13" descr="Une image contenant texte">
            <a:extLst>
              <a:ext uri="{FF2B5EF4-FFF2-40B4-BE49-F238E27FC236}">
                <a16:creationId xmlns:a16="http://schemas.microsoft.com/office/drawing/2014/main" id="{76DDF68C-AEBB-7C02-8837-7990C75069D2}"/>
              </a:ext>
            </a:extLst>
          </p:cNvPr>
          <p:cNvPicPr>
            <a:picLocks noChangeAspect="1"/>
          </p:cNvPicPr>
          <p:nvPr/>
        </p:nvPicPr>
        <p:blipFill rotWithShape="1">
          <a:blip r:embed="rId5"/>
          <a:srcRect l="15254" t="15462" r="16128" b="15462"/>
          <a:stretch/>
        </p:blipFill>
        <p:spPr>
          <a:xfrm>
            <a:off x="4836343" y="1644451"/>
            <a:ext cx="1457436" cy="1467163"/>
          </a:xfrm>
          <a:prstGeom prst="rect">
            <a:avLst/>
          </a:prstGeom>
        </p:spPr>
      </p:pic>
      <p:pic>
        <p:nvPicPr>
          <p:cNvPr id="29" name="Image 28">
            <a:extLst>
              <a:ext uri="{FF2B5EF4-FFF2-40B4-BE49-F238E27FC236}">
                <a16:creationId xmlns:a16="http://schemas.microsoft.com/office/drawing/2014/main" id="{9993A147-8B27-8CD1-E1ED-0F20ABA24208}"/>
              </a:ext>
            </a:extLst>
          </p:cNvPr>
          <p:cNvPicPr>
            <a:picLocks noChangeAspect="1"/>
          </p:cNvPicPr>
          <p:nvPr/>
        </p:nvPicPr>
        <p:blipFill rotWithShape="1">
          <a:blip r:embed="rId6"/>
          <a:srcRect l="8247" t="9246" r="6513" b="9246"/>
          <a:stretch/>
        </p:blipFill>
        <p:spPr>
          <a:xfrm>
            <a:off x="7157824" y="1644451"/>
            <a:ext cx="1534332" cy="1467163"/>
          </a:xfrm>
          <a:prstGeom prst="rect">
            <a:avLst/>
          </a:prstGeom>
        </p:spPr>
      </p:pic>
      <p:sp>
        <p:nvSpPr>
          <p:cNvPr id="35" name="Google Shape;460;p46">
            <a:extLst>
              <a:ext uri="{FF2B5EF4-FFF2-40B4-BE49-F238E27FC236}">
                <a16:creationId xmlns:a16="http://schemas.microsoft.com/office/drawing/2014/main" id="{E5D4E4BF-CB39-1D64-1E86-79F82067B0BE}"/>
              </a:ext>
            </a:extLst>
          </p:cNvPr>
          <p:cNvSpPr txBox="1">
            <a:spLocks/>
          </p:cNvSpPr>
          <p:nvPr/>
        </p:nvSpPr>
        <p:spPr>
          <a:xfrm>
            <a:off x="1983620" y="3458096"/>
            <a:ext cx="5176770" cy="1301964"/>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pPr marL="285758" indent="-285758" algn="l">
              <a:buFontTx/>
              <a:buChar char="-"/>
            </a:pPr>
            <a:r>
              <a:rPr lang="fr-FR" sz="2000" dirty="0">
                <a:solidFill>
                  <a:schemeClr val="bg1"/>
                </a:solidFill>
              </a:rPr>
              <a:t>Drone livreur de colis</a:t>
            </a:r>
          </a:p>
          <a:p>
            <a:pPr marL="285758" indent="-285758" algn="l">
              <a:buFontTx/>
              <a:buChar char="-"/>
            </a:pPr>
            <a:r>
              <a:rPr lang="fr-FR" sz="2000" dirty="0">
                <a:solidFill>
                  <a:schemeClr val="bg1"/>
                </a:solidFill>
              </a:rPr>
              <a:t>Destination A à une destination B</a:t>
            </a:r>
          </a:p>
          <a:p>
            <a:pPr marL="285758" indent="-285758" algn="l">
              <a:buFontTx/>
              <a:buChar char="-"/>
            </a:pPr>
            <a:r>
              <a:rPr lang="fr-FR" sz="2000" dirty="0">
                <a:solidFill>
                  <a:schemeClr val="bg1"/>
                </a:solidFill>
              </a:rPr>
              <a:t>Capteurs de guidage</a:t>
            </a:r>
          </a:p>
          <a:p>
            <a:pPr marL="285758" indent="-285758" algn="l">
              <a:buFontTx/>
              <a:buChar char="-"/>
            </a:pPr>
            <a:r>
              <a:rPr lang="fr-FR" sz="2000" dirty="0">
                <a:solidFill>
                  <a:schemeClr val="bg1"/>
                </a:solidFill>
              </a:rPr>
              <a:t>Contrôle manuel</a:t>
            </a:r>
          </a:p>
        </p:txBody>
      </p:sp>
    </p:spTree>
    <p:extLst>
      <p:ext uri="{BB962C8B-B14F-4D97-AF65-F5344CB8AC3E}">
        <p14:creationId xmlns:p14="http://schemas.microsoft.com/office/powerpoint/2010/main" val="534071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Diagramme Use-Case</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sp>
        <p:nvSpPr>
          <p:cNvPr id="35" name="Google Shape;460;p46">
            <a:extLst>
              <a:ext uri="{FF2B5EF4-FFF2-40B4-BE49-F238E27FC236}">
                <a16:creationId xmlns:a16="http://schemas.microsoft.com/office/drawing/2014/main" id="{E5D4E4BF-CB39-1D64-1E86-79F82067B0BE}"/>
              </a:ext>
            </a:extLst>
          </p:cNvPr>
          <p:cNvSpPr txBox="1">
            <a:spLocks/>
          </p:cNvSpPr>
          <p:nvPr/>
        </p:nvSpPr>
        <p:spPr>
          <a:xfrm>
            <a:off x="1077139" y="917724"/>
            <a:ext cx="6989737" cy="4122549"/>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pPr algn="just"/>
            <a:r>
              <a:rPr lang="fr-FR" sz="2400" dirty="0">
                <a:solidFill>
                  <a:schemeClr val="bg1"/>
                </a:solidFill>
              </a:rPr>
              <a:t>Le diagramme Use-Case modélise les interactions entre un système et ses utilisateurs, en se concentrant sur les fonctionnalités du système plutôt que sur sa mise en œuvre technique.</a:t>
            </a:r>
          </a:p>
          <a:p>
            <a:pPr algn="just"/>
            <a:endParaRPr lang="fr-FR" sz="2400" dirty="0">
              <a:solidFill>
                <a:schemeClr val="bg1"/>
              </a:solidFill>
            </a:endParaRPr>
          </a:p>
        </p:txBody>
      </p:sp>
    </p:spTree>
    <p:extLst>
      <p:ext uri="{BB962C8B-B14F-4D97-AF65-F5344CB8AC3E}">
        <p14:creationId xmlns:p14="http://schemas.microsoft.com/office/powerpoint/2010/main" val="2354309141"/>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Diagramme Use-Case</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3" name="Image 2">
            <a:extLst>
              <a:ext uri="{FF2B5EF4-FFF2-40B4-BE49-F238E27FC236}">
                <a16:creationId xmlns:a16="http://schemas.microsoft.com/office/drawing/2014/main" id="{4E4C2B77-31BF-A1EA-9028-97940F41702E}"/>
              </a:ext>
            </a:extLst>
          </p:cNvPr>
          <p:cNvPicPr>
            <a:picLocks noChangeAspect="1"/>
          </p:cNvPicPr>
          <p:nvPr/>
        </p:nvPicPr>
        <p:blipFill>
          <a:blip r:embed="rId3"/>
          <a:stretch>
            <a:fillRect/>
          </a:stretch>
        </p:blipFill>
        <p:spPr>
          <a:xfrm>
            <a:off x="3155206" y="1277874"/>
            <a:ext cx="2833598" cy="3600000"/>
          </a:xfrm>
          <a:prstGeom prst="rect">
            <a:avLst/>
          </a:prstGeom>
        </p:spPr>
      </p:pic>
    </p:spTree>
    <p:extLst>
      <p:ext uri="{BB962C8B-B14F-4D97-AF65-F5344CB8AC3E}">
        <p14:creationId xmlns:p14="http://schemas.microsoft.com/office/powerpoint/2010/main" val="535932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6" name="Image 5">
            <a:extLst>
              <a:ext uri="{FF2B5EF4-FFF2-40B4-BE49-F238E27FC236}">
                <a16:creationId xmlns:a16="http://schemas.microsoft.com/office/drawing/2014/main" id="{CE49622E-9153-82AD-32D5-ECCBC815C3A7}"/>
              </a:ext>
            </a:extLst>
          </p:cNvPr>
          <p:cNvPicPr>
            <a:picLocks noChangeAspect="1"/>
          </p:cNvPicPr>
          <p:nvPr/>
        </p:nvPicPr>
        <p:blipFill>
          <a:blip r:embed="rId3"/>
          <a:stretch>
            <a:fillRect/>
          </a:stretch>
        </p:blipFill>
        <p:spPr>
          <a:xfrm>
            <a:off x="2547748" y="0"/>
            <a:ext cx="4048504" cy="5143500"/>
          </a:xfrm>
          <a:prstGeom prst="rect">
            <a:avLst/>
          </a:prstGeom>
        </p:spPr>
      </p:pic>
    </p:spTree>
    <p:extLst>
      <p:ext uri="{BB962C8B-B14F-4D97-AF65-F5344CB8AC3E}">
        <p14:creationId xmlns:p14="http://schemas.microsoft.com/office/powerpoint/2010/main" val="4109979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Diagramme de composition</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sp>
        <p:nvSpPr>
          <p:cNvPr id="35" name="Google Shape;460;p46">
            <a:extLst>
              <a:ext uri="{FF2B5EF4-FFF2-40B4-BE49-F238E27FC236}">
                <a16:creationId xmlns:a16="http://schemas.microsoft.com/office/drawing/2014/main" id="{E5D4E4BF-CB39-1D64-1E86-79F82067B0BE}"/>
              </a:ext>
            </a:extLst>
          </p:cNvPr>
          <p:cNvSpPr txBox="1">
            <a:spLocks/>
          </p:cNvSpPr>
          <p:nvPr/>
        </p:nvSpPr>
        <p:spPr>
          <a:xfrm>
            <a:off x="1077139" y="917724"/>
            <a:ext cx="6989737" cy="4122549"/>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pPr algn="just"/>
            <a:r>
              <a:rPr lang="fr-FR" sz="2400" dirty="0">
                <a:solidFill>
                  <a:schemeClr val="bg1"/>
                </a:solidFill>
              </a:rPr>
              <a:t>Le diagramme de composition est utilisé pour montrer la composition d’un système à partir de ses parties qui le constitue, en illustrant comment celles-ci sont liées et interagissent entre elles pour produire le comportement global du système.</a:t>
            </a:r>
          </a:p>
        </p:txBody>
      </p:sp>
    </p:spTree>
    <p:extLst>
      <p:ext uri="{BB962C8B-B14F-4D97-AF65-F5344CB8AC3E}">
        <p14:creationId xmlns:p14="http://schemas.microsoft.com/office/powerpoint/2010/main" val="2601708703"/>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Diagramme de composition</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3" name="Image 2">
            <a:extLst>
              <a:ext uri="{FF2B5EF4-FFF2-40B4-BE49-F238E27FC236}">
                <a16:creationId xmlns:a16="http://schemas.microsoft.com/office/drawing/2014/main" id="{268B7ADB-CF9F-717B-F99D-AF65ABEA4C9D}"/>
              </a:ext>
            </a:extLst>
          </p:cNvPr>
          <p:cNvPicPr>
            <a:picLocks noChangeAspect="1"/>
          </p:cNvPicPr>
          <p:nvPr/>
        </p:nvPicPr>
        <p:blipFill>
          <a:blip r:embed="rId3"/>
          <a:stretch>
            <a:fillRect/>
          </a:stretch>
        </p:blipFill>
        <p:spPr>
          <a:xfrm>
            <a:off x="0" y="1346705"/>
            <a:ext cx="9144000" cy="3208173"/>
          </a:xfrm>
          <a:prstGeom prst="rect">
            <a:avLst/>
          </a:prstGeom>
        </p:spPr>
      </p:pic>
    </p:spTree>
    <p:extLst>
      <p:ext uri="{BB962C8B-B14F-4D97-AF65-F5344CB8AC3E}">
        <p14:creationId xmlns:p14="http://schemas.microsoft.com/office/powerpoint/2010/main" val="3779219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Machines à états</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sp>
        <p:nvSpPr>
          <p:cNvPr id="35" name="Google Shape;460;p46">
            <a:extLst>
              <a:ext uri="{FF2B5EF4-FFF2-40B4-BE49-F238E27FC236}">
                <a16:creationId xmlns:a16="http://schemas.microsoft.com/office/drawing/2014/main" id="{E5D4E4BF-CB39-1D64-1E86-79F82067B0BE}"/>
              </a:ext>
            </a:extLst>
          </p:cNvPr>
          <p:cNvSpPr txBox="1">
            <a:spLocks/>
          </p:cNvSpPr>
          <p:nvPr/>
        </p:nvSpPr>
        <p:spPr>
          <a:xfrm>
            <a:off x="1077139" y="917724"/>
            <a:ext cx="6989737" cy="4122549"/>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pPr algn="just"/>
            <a:r>
              <a:rPr lang="fr-FR" sz="2400" dirty="0">
                <a:solidFill>
                  <a:schemeClr val="bg1"/>
                </a:solidFill>
              </a:rPr>
              <a:t>Les machines à états sont utilisés pour modéliser le comportement des objets dans des systèmes. Une machine à états décrit les différents états qu'un objet peut prendre et comment il passe d'un état à un autre en réponse aux événements qui se produisent.</a:t>
            </a:r>
          </a:p>
        </p:txBody>
      </p:sp>
    </p:spTree>
    <p:extLst>
      <p:ext uri="{BB962C8B-B14F-4D97-AF65-F5344CB8AC3E}">
        <p14:creationId xmlns:p14="http://schemas.microsoft.com/office/powerpoint/2010/main" val="1981756870"/>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Machines à états (1/2)</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4" name="Image 3">
            <a:extLst>
              <a:ext uri="{FF2B5EF4-FFF2-40B4-BE49-F238E27FC236}">
                <a16:creationId xmlns:a16="http://schemas.microsoft.com/office/drawing/2014/main" id="{C02A9528-329B-BA40-53BC-CCBE64B1C989}"/>
              </a:ext>
            </a:extLst>
          </p:cNvPr>
          <p:cNvPicPr>
            <a:picLocks noChangeAspect="1"/>
          </p:cNvPicPr>
          <p:nvPr/>
        </p:nvPicPr>
        <p:blipFill>
          <a:blip r:embed="rId3"/>
          <a:stretch>
            <a:fillRect/>
          </a:stretch>
        </p:blipFill>
        <p:spPr>
          <a:xfrm>
            <a:off x="2786531" y="1301858"/>
            <a:ext cx="3570938" cy="3600000"/>
          </a:xfrm>
          <a:prstGeom prst="rect">
            <a:avLst/>
          </a:prstGeom>
        </p:spPr>
      </p:pic>
    </p:spTree>
    <p:extLst>
      <p:ext uri="{BB962C8B-B14F-4D97-AF65-F5344CB8AC3E}">
        <p14:creationId xmlns:p14="http://schemas.microsoft.com/office/powerpoint/2010/main" val="3157043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3" name="Image 2">
            <a:extLst>
              <a:ext uri="{FF2B5EF4-FFF2-40B4-BE49-F238E27FC236}">
                <a16:creationId xmlns:a16="http://schemas.microsoft.com/office/drawing/2014/main" id="{4D469E12-7687-7C5B-46A0-47A3C1651B78}"/>
              </a:ext>
            </a:extLst>
          </p:cNvPr>
          <p:cNvPicPr>
            <a:picLocks noChangeAspect="1"/>
          </p:cNvPicPr>
          <p:nvPr/>
        </p:nvPicPr>
        <p:blipFill>
          <a:blip r:embed="rId3"/>
          <a:stretch>
            <a:fillRect/>
          </a:stretch>
        </p:blipFill>
        <p:spPr>
          <a:xfrm>
            <a:off x="2021011" y="0"/>
            <a:ext cx="5101978" cy="5143500"/>
          </a:xfrm>
          <a:prstGeom prst="rect">
            <a:avLst/>
          </a:prstGeom>
        </p:spPr>
      </p:pic>
    </p:spTree>
    <p:extLst>
      <p:ext uri="{BB962C8B-B14F-4D97-AF65-F5344CB8AC3E}">
        <p14:creationId xmlns:p14="http://schemas.microsoft.com/office/powerpoint/2010/main" val="2520989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Machines à états (2/2)</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4" name="Image 3">
            <a:extLst>
              <a:ext uri="{FF2B5EF4-FFF2-40B4-BE49-F238E27FC236}">
                <a16:creationId xmlns:a16="http://schemas.microsoft.com/office/drawing/2014/main" id="{B074D712-0C84-5AC5-8EE1-0D4E482794E3}"/>
              </a:ext>
            </a:extLst>
          </p:cNvPr>
          <p:cNvPicPr>
            <a:picLocks noChangeAspect="1"/>
          </p:cNvPicPr>
          <p:nvPr/>
        </p:nvPicPr>
        <p:blipFill>
          <a:blip r:embed="rId3"/>
          <a:stretch>
            <a:fillRect/>
          </a:stretch>
        </p:blipFill>
        <p:spPr>
          <a:xfrm>
            <a:off x="1909149" y="1200379"/>
            <a:ext cx="5325701" cy="3600000"/>
          </a:xfrm>
          <a:prstGeom prst="rect">
            <a:avLst/>
          </a:prstGeom>
        </p:spPr>
      </p:pic>
    </p:spTree>
    <p:extLst>
      <p:ext uri="{BB962C8B-B14F-4D97-AF65-F5344CB8AC3E}">
        <p14:creationId xmlns:p14="http://schemas.microsoft.com/office/powerpoint/2010/main" val="1566541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8" name="Image 7">
            <a:extLst>
              <a:ext uri="{FF2B5EF4-FFF2-40B4-BE49-F238E27FC236}">
                <a16:creationId xmlns:a16="http://schemas.microsoft.com/office/drawing/2014/main" id="{9A5C2D9E-21C4-3A2B-D85C-8D36B808B905}"/>
              </a:ext>
            </a:extLst>
          </p:cNvPr>
          <p:cNvPicPr>
            <a:picLocks noChangeAspect="1"/>
          </p:cNvPicPr>
          <p:nvPr/>
        </p:nvPicPr>
        <p:blipFill>
          <a:blip r:embed="rId3"/>
          <a:stretch>
            <a:fillRect/>
          </a:stretch>
        </p:blipFill>
        <p:spPr>
          <a:xfrm>
            <a:off x="767453" y="0"/>
            <a:ext cx="7609093" cy="5143500"/>
          </a:xfrm>
          <a:prstGeom prst="rect">
            <a:avLst/>
          </a:prstGeom>
        </p:spPr>
      </p:pic>
    </p:spTree>
    <p:extLst>
      <p:ext uri="{BB962C8B-B14F-4D97-AF65-F5344CB8AC3E}">
        <p14:creationId xmlns:p14="http://schemas.microsoft.com/office/powerpoint/2010/main" val="37415685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Diagramme de profils</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sp>
        <p:nvSpPr>
          <p:cNvPr id="35" name="Google Shape;460;p46">
            <a:extLst>
              <a:ext uri="{FF2B5EF4-FFF2-40B4-BE49-F238E27FC236}">
                <a16:creationId xmlns:a16="http://schemas.microsoft.com/office/drawing/2014/main" id="{E5D4E4BF-CB39-1D64-1E86-79F82067B0BE}"/>
              </a:ext>
            </a:extLst>
          </p:cNvPr>
          <p:cNvSpPr txBox="1">
            <a:spLocks/>
          </p:cNvSpPr>
          <p:nvPr/>
        </p:nvSpPr>
        <p:spPr>
          <a:xfrm>
            <a:off x="1077139" y="917724"/>
            <a:ext cx="6989737" cy="4122549"/>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pPr algn="just"/>
            <a:r>
              <a:rPr lang="fr-FR" sz="2400" dirty="0">
                <a:solidFill>
                  <a:schemeClr val="bg1"/>
                </a:solidFill>
              </a:rPr>
              <a:t>Les diagrammes de profils sont utilisés pour étendre le langage UML et personnaliser la notation et la sémantique. Un profil UML est une extension d'UML qui peut être utilisée pour ajouter des stéréotypes, des contraintes, des propriétés ou des méthodes à un modèle UML de base.</a:t>
            </a:r>
          </a:p>
        </p:txBody>
      </p:sp>
    </p:spTree>
    <p:extLst>
      <p:ext uri="{BB962C8B-B14F-4D97-AF65-F5344CB8AC3E}">
        <p14:creationId xmlns:p14="http://schemas.microsoft.com/office/powerpoint/2010/main" val="1980472601"/>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Diagramme de profils</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4" name="Image 3">
            <a:extLst>
              <a:ext uri="{FF2B5EF4-FFF2-40B4-BE49-F238E27FC236}">
                <a16:creationId xmlns:a16="http://schemas.microsoft.com/office/drawing/2014/main" id="{D72D3B53-3EBD-4EFD-FB6B-87EF00B1DF6A}"/>
              </a:ext>
            </a:extLst>
          </p:cNvPr>
          <p:cNvPicPr>
            <a:picLocks noChangeAspect="1"/>
          </p:cNvPicPr>
          <p:nvPr/>
        </p:nvPicPr>
        <p:blipFill>
          <a:blip r:embed="rId3"/>
          <a:stretch>
            <a:fillRect/>
          </a:stretch>
        </p:blipFill>
        <p:spPr>
          <a:xfrm>
            <a:off x="1273783" y="1317191"/>
            <a:ext cx="6596434" cy="3600000"/>
          </a:xfrm>
          <a:prstGeom prst="rect">
            <a:avLst/>
          </a:prstGeom>
        </p:spPr>
      </p:pic>
    </p:spTree>
    <p:extLst>
      <p:ext uri="{BB962C8B-B14F-4D97-AF65-F5344CB8AC3E}">
        <p14:creationId xmlns:p14="http://schemas.microsoft.com/office/powerpoint/2010/main" val="643255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E85B0F46-38B1-7A9F-2B6A-09C414F538CF}"/>
              </a:ext>
            </a:extLst>
          </p:cNvPr>
          <p:cNvPicPr>
            <a:picLocks noChangeAspect="1"/>
          </p:cNvPicPr>
          <p:nvPr/>
        </p:nvPicPr>
        <p:blipFill>
          <a:blip r:embed="rId2"/>
          <a:stretch>
            <a:fillRect/>
          </a:stretch>
        </p:blipFill>
        <p:spPr>
          <a:xfrm>
            <a:off x="0" y="76583"/>
            <a:ext cx="9144000" cy="4990334"/>
          </a:xfrm>
          <a:prstGeom prst="rect">
            <a:avLst/>
          </a:prstGeom>
        </p:spPr>
      </p:pic>
    </p:spTree>
    <p:extLst>
      <p:ext uri="{BB962C8B-B14F-4D97-AF65-F5344CB8AC3E}">
        <p14:creationId xmlns:p14="http://schemas.microsoft.com/office/powerpoint/2010/main" val="2228161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Application du diagramme de profils</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4" name="Image 3">
            <a:extLst>
              <a:ext uri="{FF2B5EF4-FFF2-40B4-BE49-F238E27FC236}">
                <a16:creationId xmlns:a16="http://schemas.microsoft.com/office/drawing/2014/main" id="{9E1299F7-DB86-7D28-7FE9-E937011EF18E}"/>
              </a:ext>
            </a:extLst>
          </p:cNvPr>
          <p:cNvPicPr>
            <a:picLocks noChangeAspect="1"/>
          </p:cNvPicPr>
          <p:nvPr/>
        </p:nvPicPr>
        <p:blipFill>
          <a:blip r:embed="rId3"/>
          <a:stretch>
            <a:fillRect/>
          </a:stretch>
        </p:blipFill>
        <p:spPr>
          <a:xfrm>
            <a:off x="2022887" y="1286360"/>
            <a:ext cx="5098225" cy="3600000"/>
          </a:xfrm>
          <a:prstGeom prst="rect">
            <a:avLst/>
          </a:prstGeom>
        </p:spPr>
      </p:pic>
    </p:spTree>
    <p:extLst>
      <p:ext uri="{BB962C8B-B14F-4D97-AF65-F5344CB8AC3E}">
        <p14:creationId xmlns:p14="http://schemas.microsoft.com/office/powerpoint/2010/main" val="396984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B680C0A4-EAF2-80FC-E5CB-8263FC30C6B9}"/>
              </a:ext>
            </a:extLst>
          </p:cNvPr>
          <p:cNvPicPr>
            <a:picLocks noChangeAspect="1"/>
          </p:cNvPicPr>
          <p:nvPr/>
        </p:nvPicPr>
        <p:blipFill>
          <a:blip r:embed="rId2"/>
          <a:stretch>
            <a:fillRect/>
          </a:stretch>
        </p:blipFill>
        <p:spPr>
          <a:xfrm>
            <a:off x="929955" y="0"/>
            <a:ext cx="7284089" cy="5143500"/>
          </a:xfrm>
          <a:prstGeom prst="rect">
            <a:avLst/>
          </a:prstGeom>
        </p:spPr>
      </p:pic>
    </p:spTree>
    <p:extLst>
      <p:ext uri="{BB962C8B-B14F-4D97-AF65-F5344CB8AC3E}">
        <p14:creationId xmlns:p14="http://schemas.microsoft.com/office/powerpoint/2010/main" val="1183527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Diagramme d’activité</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sp>
        <p:nvSpPr>
          <p:cNvPr id="35" name="Google Shape;460;p46">
            <a:extLst>
              <a:ext uri="{FF2B5EF4-FFF2-40B4-BE49-F238E27FC236}">
                <a16:creationId xmlns:a16="http://schemas.microsoft.com/office/drawing/2014/main" id="{E5D4E4BF-CB39-1D64-1E86-79F82067B0BE}"/>
              </a:ext>
            </a:extLst>
          </p:cNvPr>
          <p:cNvSpPr txBox="1">
            <a:spLocks/>
          </p:cNvSpPr>
          <p:nvPr/>
        </p:nvSpPr>
        <p:spPr>
          <a:xfrm>
            <a:off x="1077139" y="917724"/>
            <a:ext cx="6989737" cy="4122549"/>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pPr algn="just"/>
            <a:r>
              <a:rPr lang="fr-FR" sz="2400" dirty="0">
                <a:solidFill>
                  <a:schemeClr val="bg1"/>
                </a:solidFill>
              </a:rPr>
              <a:t>Le diagramme d'activité est utilisé pour modéliser le comportement d'un processus ou d’un flux dans un système. Il permet de représenter les activités, les actions, les étapes de décision, les synchronisations, les transitions… qui composent un processus</a:t>
            </a:r>
          </a:p>
        </p:txBody>
      </p:sp>
    </p:spTree>
    <p:extLst>
      <p:ext uri="{BB962C8B-B14F-4D97-AF65-F5344CB8AC3E}">
        <p14:creationId xmlns:p14="http://schemas.microsoft.com/office/powerpoint/2010/main" val="3654912849"/>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Diagramme d’activité</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3" name="Image 2">
            <a:extLst>
              <a:ext uri="{FF2B5EF4-FFF2-40B4-BE49-F238E27FC236}">
                <a16:creationId xmlns:a16="http://schemas.microsoft.com/office/drawing/2014/main" id="{3EBD6D61-30FF-B439-A931-39DBAC5E192E}"/>
              </a:ext>
            </a:extLst>
          </p:cNvPr>
          <p:cNvPicPr>
            <a:picLocks noChangeAspect="1"/>
          </p:cNvPicPr>
          <p:nvPr/>
        </p:nvPicPr>
        <p:blipFill>
          <a:blip r:embed="rId3"/>
          <a:stretch>
            <a:fillRect/>
          </a:stretch>
        </p:blipFill>
        <p:spPr>
          <a:xfrm>
            <a:off x="1982920" y="1278610"/>
            <a:ext cx="5178159" cy="3600000"/>
          </a:xfrm>
          <a:prstGeom prst="rect">
            <a:avLst/>
          </a:prstGeom>
        </p:spPr>
      </p:pic>
    </p:spTree>
    <p:extLst>
      <p:ext uri="{BB962C8B-B14F-4D97-AF65-F5344CB8AC3E}">
        <p14:creationId xmlns:p14="http://schemas.microsoft.com/office/powerpoint/2010/main" val="428081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pic>
        <p:nvPicPr>
          <p:cNvPr id="5" name="Image 4">
            <a:extLst>
              <a:ext uri="{FF2B5EF4-FFF2-40B4-BE49-F238E27FC236}">
                <a16:creationId xmlns:a16="http://schemas.microsoft.com/office/drawing/2014/main" id="{A15582FF-1C87-7AEF-1E68-63B96A7CD73C}"/>
              </a:ext>
            </a:extLst>
          </p:cNvPr>
          <p:cNvPicPr>
            <a:picLocks noChangeAspect="1"/>
          </p:cNvPicPr>
          <p:nvPr/>
        </p:nvPicPr>
        <p:blipFill>
          <a:blip r:embed="rId3"/>
          <a:stretch>
            <a:fillRect/>
          </a:stretch>
        </p:blipFill>
        <p:spPr>
          <a:xfrm>
            <a:off x="872852" y="0"/>
            <a:ext cx="7398295" cy="5143500"/>
          </a:xfrm>
          <a:prstGeom prst="rect">
            <a:avLst/>
          </a:prstGeom>
        </p:spPr>
      </p:pic>
    </p:spTree>
    <p:extLst>
      <p:ext uri="{BB962C8B-B14F-4D97-AF65-F5344CB8AC3E}">
        <p14:creationId xmlns:p14="http://schemas.microsoft.com/office/powerpoint/2010/main" val="13880590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46"/>
          <p:cNvSpPr txBox="1">
            <a:spLocks noGrp="1"/>
          </p:cNvSpPr>
          <p:nvPr>
            <p:ph type="title"/>
          </p:nvPr>
        </p:nvSpPr>
        <p:spPr>
          <a:xfrm>
            <a:off x="724123" y="588622"/>
            <a:ext cx="7704002" cy="329100"/>
          </a:xfrm>
          <a:prstGeom prst="rect">
            <a:avLst/>
          </a:prstGeom>
        </p:spPr>
        <p:txBody>
          <a:bodyPr spcFirstLastPara="1" wrap="square" lIns="91426" tIns="91426" rIns="91426" bIns="91426" anchor="ctr" anchorCtr="0">
            <a:noAutofit/>
          </a:bodyPr>
          <a:lstStyle/>
          <a:p>
            <a:r>
              <a:rPr lang="en" dirty="0"/>
              <a:t>Conclusion</a:t>
            </a:r>
            <a:endParaRPr dirty="0"/>
          </a:p>
        </p:txBody>
      </p:sp>
      <p:cxnSp>
        <p:nvCxnSpPr>
          <p:cNvPr id="467" name="Google Shape;467;p46"/>
          <p:cNvCxnSpPr/>
          <p:nvPr/>
        </p:nvCxnSpPr>
        <p:spPr>
          <a:xfrm>
            <a:off x="2689055" y="1059050"/>
            <a:ext cx="3765900" cy="0"/>
          </a:xfrm>
          <a:prstGeom prst="straightConnector1">
            <a:avLst/>
          </a:prstGeom>
          <a:noFill/>
          <a:ln w="19050" cap="flat" cmpd="sng">
            <a:solidFill>
              <a:schemeClr val="accent5"/>
            </a:solidFill>
            <a:prstDash val="solid"/>
            <a:round/>
            <a:headEnd type="oval" w="med" len="med"/>
            <a:tailEnd type="oval" w="med" len="med"/>
          </a:ln>
        </p:spPr>
      </p:cxnSp>
      <p:sp>
        <p:nvSpPr>
          <p:cNvPr id="13" name="Google Shape;460;p46">
            <a:extLst>
              <a:ext uri="{FF2B5EF4-FFF2-40B4-BE49-F238E27FC236}">
                <a16:creationId xmlns:a16="http://schemas.microsoft.com/office/drawing/2014/main" id="{CB609D44-CDC6-B494-E7E1-FFAC07B53469}"/>
              </a:ext>
            </a:extLst>
          </p:cNvPr>
          <p:cNvSpPr txBox="1">
            <a:spLocks/>
          </p:cNvSpPr>
          <p:nvPr/>
        </p:nvSpPr>
        <p:spPr>
          <a:xfrm>
            <a:off x="720004" y="1509076"/>
            <a:ext cx="7704002" cy="329100"/>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endParaRPr lang="fr-FR" sz="7200" dirty="0"/>
          </a:p>
        </p:txBody>
      </p:sp>
      <p:pic>
        <p:nvPicPr>
          <p:cNvPr id="5" name="Image 4">
            <a:extLst>
              <a:ext uri="{FF2B5EF4-FFF2-40B4-BE49-F238E27FC236}">
                <a16:creationId xmlns:a16="http://schemas.microsoft.com/office/drawing/2014/main" id="{069E57FE-565F-E7F8-5DA4-6CC813A90BD7}"/>
              </a:ext>
            </a:extLst>
          </p:cNvPr>
          <p:cNvPicPr>
            <a:picLocks noChangeAspect="1"/>
          </p:cNvPicPr>
          <p:nvPr/>
        </p:nvPicPr>
        <p:blipFill>
          <a:blip r:embed="rId3"/>
          <a:stretch>
            <a:fillRect/>
          </a:stretch>
        </p:blipFill>
        <p:spPr>
          <a:xfrm>
            <a:off x="588254" y="1779701"/>
            <a:ext cx="1260000" cy="1260000"/>
          </a:xfrm>
          <a:prstGeom prst="rect">
            <a:avLst/>
          </a:prstGeom>
        </p:spPr>
      </p:pic>
      <p:pic>
        <p:nvPicPr>
          <p:cNvPr id="11" name="Image 10">
            <a:extLst>
              <a:ext uri="{FF2B5EF4-FFF2-40B4-BE49-F238E27FC236}">
                <a16:creationId xmlns:a16="http://schemas.microsoft.com/office/drawing/2014/main" id="{C603E07F-B808-AB14-89FB-7BB6891325BB}"/>
              </a:ext>
            </a:extLst>
          </p:cNvPr>
          <p:cNvPicPr>
            <a:picLocks noChangeAspect="1"/>
          </p:cNvPicPr>
          <p:nvPr/>
        </p:nvPicPr>
        <p:blipFill>
          <a:blip r:embed="rId4"/>
          <a:stretch>
            <a:fillRect/>
          </a:stretch>
        </p:blipFill>
        <p:spPr>
          <a:xfrm>
            <a:off x="2712299" y="1764951"/>
            <a:ext cx="1260000" cy="1260000"/>
          </a:xfrm>
          <a:prstGeom prst="rect">
            <a:avLst/>
          </a:prstGeom>
        </p:spPr>
      </p:pic>
      <p:pic>
        <p:nvPicPr>
          <p:cNvPr id="14" name="Image 13" descr="Une image contenant texte">
            <a:extLst>
              <a:ext uri="{FF2B5EF4-FFF2-40B4-BE49-F238E27FC236}">
                <a16:creationId xmlns:a16="http://schemas.microsoft.com/office/drawing/2014/main" id="{76DDF68C-AEBB-7C02-8837-7990C75069D2}"/>
              </a:ext>
            </a:extLst>
          </p:cNvPr>
          <p:cNvPicPr>
            <a:picLocks noChangeAspect="1"/>
          </p:cNvPicPr>
          <p:nvPr/>
        </p:nvPicPr>
        <p:blipFill rotWithShape="1">
          <a:blip r:embed="rId5"/>
          <a:srcRect l="15254" t="15462" r="16128" b="15462"/>
          <a:stretch/>
        </p:blipFill>
        <p:spPr>
          <a:xfrm>
            <a:off x="4836343" y="1644451"/>
            <a:ext cx="1457436" cy="1467163"/>
          </a:xfrm>
          <a:prstGeom prst="rect">
            <a:avLst/>
          </a:prstGeom>
        </p:spPr>
      </p:pic>
      <p:pic>
        <p:nvPicPr>
          <p:cNvPr id="29" name="Image 28">
            <a:extLst>
              <a:ext uri="{FF2B5EF4-FFF2-40B4-BE49-F238E27FC236}">
                <a16:creationId xmlns:a16="http://schemas.microsoft.com/office/drawing/2014/main" id="{9993A147-8B27-8CD1-E1ED-0F20ABA24208}"/>
              </a:ext>
            </a:extLst>
          </p:cNvPr>
          <p:cNvPicPr>
            <a:picLocks noChangeAspect="1"/>
          </p:cNvPicPr>
          <p:nvPr/>
        </p:nvPicPr>
        <p:blipFill rotWithShape="1">
          <a:blip r:embed="rId6"/>
          <a:srcRect l="8247" t="9246" r="6513" b="9246"/>
          <a:stretch/>
        </p:blipFill>
        <p:spPr>
          <a:xfrm>
            <a:off x="7157824" y="1644451"/>
            <a:ext cx="1534332" cy="1467163"/>
          </a:xfrm>
          <a:prstGeom prst="rect">
            <a:avLst/>
          </a:prstGeom>
        </p:spPr>
      </p:pic>
      <p:sp>
        <p:nvSpPr>
          <p:cNvPr id="35" name="Google Shape;460;p46">
            <a:extLst>
              <a:ext uri="{FF2B5EF4-FFF2-40B4-BE49-F238E27FC236}">
                <a16:creationId xmlns:a16="http://schemas.microsoft.com/office/drawing/2014/main" id="{E5D4E4BF-CB39-1D64-1E86-79F82067B0BE}"/>
              </a:ext>
            </a:extLst>
          </p:cNvPr>
          <p:cNvSpPr txBox="1">
            <a:spLocks/>
          </p:cNvSpPr>
          <p:nvPr/>
        </p:nvSpPr>
        <p:spPr>
          <a:xfrm>
            <a:off x="466548" y="3246989"/>
            <a:ext cx="8210904" cy="1168984"/>
          </a:xfrm>
          <a:prstGeom prst="rect">
            <a:avLst/>
          </a:prstGeom>
          <a:noFill/>
          <a:ln>
            <a:noFill/>
          </a:ln>
        </p:spPr>
        <p:txBody>
          <a:bodyPr spcFirstLastPara="1" wrap="square" lIns="91426" tIns="91426" rIns="91426" bIns="91426"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1pPr>
            <a:lvl2pPr marR="0" lvl="1"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2pPr>
            <a:lvl3pPr marR="0" lvl="2"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3pPr>
            <a:lvl4pPr marR="0" lvl="3"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4pPr>
            <a:lvl5pPr marR="0" lvl="4"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5pPr>
            <a:lvl6pPr marR="0" lvl="5"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6pPr>
            <a:lvl7pPr marR="0" lvl="6"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7pPr>
            <a:lvl8pPr marR="0" lvl="7"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8pPr>
            <a:lvl9pPr marR="0" lvl="8" algn="ctr" rtl="0">
              <a:lnSpc>
                <a:spcPct val="100000"/>
              </a:lnSpc>
              <a:spcBef>
                <a:spcPts val="0"/>
              </a:spcBef>
              <a:spcAft>
                <a:spcPts val="0"/>
              </a:spcAft>
              <a:buClr>
                <a:schemeClr val="lt1"/>
              </a:buClr>
              <a:buSzPts val="2800"/>
              <a:buFont typeface="Montserrat ExtraBold"/>
              <a:buNone/>
              <a:defRPr sz="2800" b="0" i="0" u="none" strike="noStrike" cap="none">
                <a:solidFill>
                  <a:schemeClr val="lt1"/>
                </a:solidFill>
                <a:latin typeface="Montserrat ExtraBold"/>
                <a:ea typeface="Montserrat ExtraBold"/>
                <a:cs typeface="Montserrat ExtraBold"/>
                <a:sym typeface="Montserrat ExtraBold"/>
              </a:defRPr>
            </a:lvl9pPr>
          </a:lstStyle>
          <a:p>
            <a:pPr algn="just"/>
            <a:endParaRPr lang="fr-FR" sz="2000" dirty="0">
              <a:solidFill>
                <a:schemeClr val="bg1"/>
              </a:solidFill>
            </a:endParaRPr>
          </a:p>
          <a:p>
            <a:pPr algn="just"/>
            <a:endParaRPr lang="fr-FR" sz="2000" dirty="0">
              <a:solidFill>
                <a:schemeClr val="bg1"/>
              </a:solidFill>
            </a:endParaRPr>
          </a:p>
          <a:p>
            <a:pPr algn="just"/>
            <a:r>
              <a:rPr lang="fr-FR" sz="2000" dirty="0">
                <a:solidFill>
                  <a:schemeClr val="bg1"/>
                </a:solidFill>
              </a:rPr>
              <a:t>- Représentation graphique des différents aspects d'un système (fonctionnalités, architecture, comportements, …)</a:t>
            </a:r>
          </a:p>
          <a:p>
            <a:pPr algn="just"/>
            <a:r>
              <a:rPr lang="fr-FR" sz="2000" dirty="0">
                <a:solidFill>
                  <a:schemeClr val="bg1"/>
                </a:solidFill>
              </a:rPr>
              <a:t>- Clarification des exigences, des relations et des interactions en offrant une représentation visuelle</a:t>
            </a:r>
          </a:p>
        </p:txBody>
      </p:sp>
    </p:spTree>
    <p:extLst>
      <p:ext uri="{BB962C8B-B14F-4D97-AF65-F5344CB8AC3E}">
        <p14:creationId xmlns:p14="http://schemas.microsoft.com/office/powerpoint/2010/main" val="548286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49"/>
          <p:cNvSpPr txBox="1">
            <a:spLocks noGrp="1"/>
          </p:cNvSpPr>
          <p:nvPr>
            <p:ph type="title"/>
          </p:nvPr>
        </p:nvSpPr>
        <p:spPr>
          <a:xfrm>
            <a:off x="944380" y="1385975"/>
            <a:ext cx="7255239" cy="2371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Merci de votre attention</a:t>
            </a:r>
            <a:endParaRPr dirty="0">
              <a:solidFill>
                <a:schemeClr val="accent5"/>
              </a:solidFill>
            </a:endParaRPr>
          </a:p>
        </p:txBody>
      </p:sp>
      <p:cxnSp>
        <p:nvCxnSpPr>
          <p:cNvPr id="605" name="Google Shape;605;p49"/>
          <p:cNvCxnSpPr/>
          <p:nvPr/>
        </p:nvCxnSpPr>
        <p:spPr>
          <a:xfrm>
            <a:off x="1802100" y="1209650"/>
            <a:ext cx="5539800" cy="0"/>
          </a:xfrm>
          <a:prstGeom prst="straightConnector1">
            <a:avLst/>
          </a:prstGeom>
          <a:noFill/>
          <a:ln w="19050" cap="flat" cmpd="sng">
            <a:solidFill>
              <a:schemeClr val="accent5"/>
            </a:solidFill>
            <a:prstDash val="solid"/>
            <a:round/>
            <a:headEnd type="oval" w="med" len="med"/>
            <a:tailEnd type="oval" w="med" len="med"/>
          </a:ln>
        </p:spPr>
      </p:cxnSp>
      <p:cxnSp>
        <p:nvCxnSpPr>
          <p:cNvPr id="606" name="Google Shape;606;p49"/>
          <p:cNvCxnSpPr/>
          <p:nvPr/>
        </p:nvCxnSpPr>
        <p:spPr>
          <a:xfrm>
            <a:off x="1802100" y="3933800"/>
            <a:ext cx="5539800" cy="0"/>
          </a:xfrm>
          <a:prstGeom prst="straightConnector1">
            <a:avLst/>
          </a:prstGeom>
          <a:noFill/>
          <a:ln w="19050" cap="flat" cmpd="sng">
            <a:solidFill>
              <a:schemeClr val="accent5"/>
            </a:solidFill>
            <a:prstDash val="solid"/>
            <a:round/>
            <a:headEnd type="oval" w="med" len="med"/>
            <a:tailEnd type="oval" w="med" len="med"/>
          </a:ln>
        </p:spPr>
      </p:cxnSp>
    </p:spTree>
  </p:cSld>
  <p:clrMapOvr>
    <a:masterClrMapping/>
  </p:clrMapOvr>
</p:sld>
</file>

<file path=ppt/theme/theme1.xml><?xml version="1.0" encoding="utf-8"?>
<a:theme xmlns:a="http://schemas.openxmlformats.org/drawingml/2006/main" name="Intelligent Process Automation (IPA) for Business by Slidesgo">
  <a:themeElements>
    <a:clrScheme name="Simple Light">
      <a:dk1>
        <a:srgbClr val="141414"/>
      </a:dk1>
      <a:lt1>
        <a:srgbClr val="FBFBFB"/>
      </a:lt1>
      <a:dk2>
        <a:srgbClr val="EEF0EB"/>
      </a:dk2>
      <a:lt2>
        <a:srgbClr val="BCB2B0"/>
      </a:lt2>
      <a:accent1>
        <a:srgbClr val="C4B9C8"/>
      </a:accent1>
      <a:accent2>
        <a:srgbClr val="5B3B5A"/>
      </a:accent2>
      <a:accent3>
        <a:srgbClr val="153243"/>
      </a:accent3>
      <a:accent4>
        <a:srgbClr val="284B63"/>
      </a:accent4>
      <a:accent5>
        <a:srgbClr val="AADDE0"/>
      </a:accent5>
      <a:accent6>
        <a:srgbClr val="535353"/>
      </a:accent6>
      <a:hlink>
        <a:srgbClr val="FBFB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486</TotalTime>
  <Words>339</Words>
  <Application>Microsoft Office PowerPoint</Application>
  <PresentationFormat>Affichage à l'écran (16:9)</PresentationFormat>
  <Paragraphs>32</Paragraphs>
  <Slides>23</Slides>
  <Notes>20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23</vt:i4>
      </vt:variant>
    </vt:vector>
  </HeadingPairs>
  <TitlesOfParts>
    <vt:vector size="27" baseType="lpstr">
      <vt:lpstr>Oxygen</vt:lpstr>
      <vt:lpstr>Arial</vt:lpstr>
      <vt:lpstr>Montserrat ExtraBold</vt:lpstr>
      <vt:lpstr>Intelligent Process Automation (IPA) for Business by Slidesgo</vt:lpstr>
      <vt:lpstr>Drone system : navigation system</vt:lpstr>
      <vt:lpstr>Sommaire</vt:lpstr>
      <vt:lpstr>Introduction</vt:lpstr>
      <vt:lpstr>Diagramme Use-Case</vt:lpstr>
      <vt:lpstr>Diagramme Use-Case</vt:lpstr>
      <vt:lpstr>Présentation PowerPoint</vt:lpstr>
      <vt:lpstr>Diagramme de composition</vt:lpstr>
      <vt:lpstr>Diagramme de composition</vt:lpstr>
      <vt:lpstr>Machines à états</vt:lpstr>
      <vt:lpstr>Machines à états (1/2)</vt:lpstr>
      <vt:lpstr>Présentation PowerPoint</vt:lpstr>
      <vt:lpstr>Machines à états (2/2)</vt:lpstr>
      <vt:lpstr>Présentation PowerPoint</vt:lpstr>
      <vt:lpstr>Diagramme de profils</vt:lpstr>
      <vt:lpstr>Diagramme de profils</vt:lpstr>
      <vt:lpstr>Présentation PowerPoint</vt:lpstr>
      <vt:lpstr>Application du diagramme de profils</vt:lpstr>
      <vt:lpstr>Présentation PowerPoint</vt:lpstr>
      <vt:lpstr>Diagramme d’activité</vt:lpstr>
      <vt:lpstr>Diagramme d’activité</vt:lpstr>
      <vt:lpstr>Présentation PowerPoint</vt:lpstr>
      <vt:lpstr>Conclusion</vt:lpstr>
      <vt:lpstr>Merci de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EDLines : A real-time line segment detector with a false detection control</dc:title>
  <cp:lastModifiedBy>Gaëtan Bouchy</cp:lastModifiedBy>
  <cp:revision>38</cp:revision>
  <dcterms:modified xsi:type="dcterms:W3CDTF">2023-02-21T09:44:08Z</dcterms:modified>
</cp:coreProperties>
</file>